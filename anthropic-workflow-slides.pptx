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76200" cy="5143500"/>
          </a:xfrm>
          <a:prstGeom prst="rect">
            <a:avLst/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85800" y="1460450"/>
            <a:ext cx="7772400" cy="1028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4050"/>
              </a:lnSpc>
              <a:buNone/>
            </a:pPr>
            <a:r>
              <a:rPr lang="en-US" sz="3000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Anthropic公式ツールだけで構築する</a:t>
            </a:r>
            <a:endParaRPr lang="en-US" sz="3000" dirty="0"/>
          </a:p>
          <a:p>
            <a:pPr algn="ctr" indent="0" marL="0">
              <a:lnSpc>
                <a:spcPts val="4050"/>
              </a:lnSpc>
              <a:buNone/>
            </a:pPr>
            <a:r>
              <a:rPr lang="en-US" sz="3000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開発ワークフロー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2539901" y="2705100"/>
            <a:ext cx="4063901" cy="25301"/>
          </a:xfrm>
          <a:prstGeom prst="rect">
            <a:avLst/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5800" y="2819400"/>
            <a:ext cx="777240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要件定義からリリースノートまで — 7フェーズを完全に回す実践ワークフロー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85800" y="3200400"/>
            <a:ext cx="7772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題材：Rich Markdown Preview  Issue #10「同名ファイルが開けない」修正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392879" y="4787801"/>
            <a:ext cx="347162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2026.04  |  @masayan_tech_ai_mcp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3001" y="266700"/>
            <a:ext cx="79667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本日の流れ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73001" y="723900"/>
            <a:ext cx="7810500" cy="12650"/>
          </a:xfrm>
          <a:prstGeom prst="rect">
            <a:avLst/>
          </a:prstGeom>
          <a:solidFill>
            <a:srgbClr val="D0D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73001" y="1287363"/>
            <a:ext cx="78105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73001" y="927050"/>
            <a:ext cx="6217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84102" y="931813"/>
            <a:ext cx="724138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問題提起：Issue #10「同名ファイルが別タブで開けない」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73001" y="1741289"/>
            <a:ext cx="78105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73001" y="1380976"/>
            <a:ext cx="6217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84102" y="1385739"/>
            <a:ext cx="724138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開発ライフサイクル全体像 — 7フェーズとAnthropicツール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73001" y="2195215"/>
            <a:ext cx="78105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73001" y="1834902"/>
            <a:ext cx="6217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384102" y="1839664"/>
            <a:ext cx="724138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ガードレール — hookify + security-guidance で全フェーズ保護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73001" y="2649141"/>
            <a:ext cx="78105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3001" y="2288828"/>
            <a:ext cx="6217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384102" y="2293590"/>
            <a:ext cx="724138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フェーズ①〜④：要件定義・設計・デザイン・実装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73001" y="3103066"/>
            <a:ext cx="78105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3001" y="2742754"/>
            <a:ext cx="6217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84102" y="2747516"/>
            <a:ext cx="724138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フェーズ⑤：コミット/PR — 実際のコミットメッセージを読む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673001" y="3556992"/>
            <a:ext cx="7810500" cy="0"/>
          </a:xfrm>
          <a:prstGeom prst="line">
            <a:avLst/>
          </a:prstGeom>
          <a:noFill/>
          <a:ln w="9525">
            <a:solidFill>
              <a:srgbClr val="E0E0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3001" y="3196679"/>
            <a:ext cx="6217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384102" y="3201442"/>
            <a:ext cx="724138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フェーズ⑥：レビュー — 3エージェントが並列で問題を発見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73001" y="3650605"/>
            <a:ext cx="621792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384102" y="3655368"/>
            <a:ext cx="7241387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フェーズ⑦：ドキュメント + まとめ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8088532" y="4787801"/>
            <a:ext cx="71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13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3001" y="266700"/>
            <a:ext cx="79667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#10：同名ファイルが別タブで開けない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73001" y="723900"/>
            <a:ext cx="7810500" cy="12650"/>
          </a:xfrm>
          <a:prstGeom prst="rect">
            <a:avLst/>
          </a:prstGeom>
          <a:solidFill>
            <a:srgbClr val="D0D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96813" y="838200"/>
            <a:ext cx="0" cy="533400"/>
          </a:xfrm>
          <a:prstGeom prst="line">
            <a:avLst/>
          </a:prstGeom>
          <a:noFill/>
          <a:ln w="47625">
            <a:solidFill>
              <a:srgbClr val="2E86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3026" y="838200"/>
            <a:ext cx="796671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dir1/README.md を開いた後、dir2/README.md をクリックしても</a:t>
            </a:r>
            <a:endParaRPr lang="en-US" sz="1500" dirty="0"/>
          </a:p>
          <a:p>
            <a:pPr algn="l" indent="0" marL="0">
              <a:lnSpc>
                <a:spcPts val="2100"/>
              </a:lnSpc>
              <a:buNone/>
            </a:pPr>
            <a:r>
              <a:rPr lang="en-US" sz="15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タブが増えず、既存タブがアクティブになるだけ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73001" y="1549301"/>
            <a:ext cx="4572000" cy="3212902"/>
          </a:xfrm>
          <a:prstGeom prst="roundRect">
            <a:avLst>
              <a:gd name="adj" fmla="val 2372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0702" y="1727002"/>
            <a:ext cx="430093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3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根本原因の構造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50702" y="2101602"/>
            <a:ext cx="4300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パス構築の欠陥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50702" y="2368302"/>
            <a:ext cx="43009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directoryReader.ts が再帰時に parentPath を引き継がず、全ファイルが dirName/file.md 形式に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50702" y="2952452"/>
            <a:ext cx="430093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重複チェックのロジック不統一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50702" y="3219152"/>
            <a:ext cx="43009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ディレクトリ経由は file.path 比較、D&amp;D経由は file.name 比較 — 同じ機能で別ロジック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50702" y="3803303"/>
            <a:ext cx="43009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結果 → 異なるディレクトリの同名ファイルが「同一」と誤判定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22850" y="1549301"/>
            <a:ext cx="3060650" cy="3231952"/>
          </a:xfrm>
          <a:prstGeom prst="roundRect">
            <a:avLst>
              <a:gd name="adj" fmla="val 2490"/>
            </a:avLst>
          </a:prstGeom>
          <a:solidFill>
            <a:srgbClr val="F5F5F5"/>
          </a:solidFill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5610076" y="1736527"/>
            <a:ext cx="2739923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3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修正前の動作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610076" y="2136577"/>
            <a:ext cx="2686199" cy="749201"/>
          </a:xfrm>
          <a:prstGeom prst="roundRect">
            <a:avLst>
              <a:gd name="adj" fmla="val 6781"/>
            </a:avLst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5746552" y="2273052"/>
            <a:ext cx="246151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dir1/README.md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746552" y="2539752"/>
            <a:ext cx="246151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タブ1として開く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610076" y="2987278"/>
            <a:ext cx="2686199" cy="901601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9525">
            <a:solidFill>
              <a:srgbClr val="E8E8E8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5746552" y="3123754"/>
            <a:ext cx="2461513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dir2/README.md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746552" y="3333304"/>
            <a:ext cx="2461513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タブ2が開かない</a:t>
            </a:r>
            <a:endParaRPr lang="en-US" sz="1100" dirty="0"/>
          </a:p>
          <a:p>
            <a:pPr algn="l" indent="0" marL="0">
              <a:spcBef>
                <a:spcPts val="300"/>
              </a:spcBef>
              <a:buNone/>
            </a:pPr>
            <a:r>
              <a:rPr lang="en-US" sz="11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既存タブをアクティブ化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8088532" y="4787801"/>
            <a:ext cx="71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13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3001" y="266700"/>
            <a:ext cx="796671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開発ライフサイクル全体像 — 全フェーズAnthropicツールのみ使用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73001" y="698450"/>
            <a:ext cx="7810500" cy="12650"/>
          </a:xfrm>
          <a:prstGeom prst="rect">
            <a:avLst/>
          </a:prstGeom>
          <a:solidFill>
            <a:srgbClr val="D0D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3001" y="850850"/>
            <a:ext cx="1981051" cy="1409551"/>
          </a:xfrm>
          <a:prstGeom prst="roundRect">
            <a:avLst>
              <a:gd name="adj" fmla="val 4505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73001" y="869900"/>
            <a:ext cx="1981051" cy="0"/>
          </a:xfrm>
          <a:prstGeom prst="line">
            <a:avLst/>
          </a:prstGeom>
          <a:noFill/>
          <a:ln w="38100">
            <a:solidFill>
              <a:srgbClr val="1B4F7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99951" y="1015901"/>
            <a:ext cx="176169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 要件定義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99951" y="1276201"/>
            <a:ext cx="17616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仕様書作成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799951" y="1552426"/>
            <a:ext cx="17616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doc-coauthoring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451050" y="1371600"/>
            <a:ext cx="126950" cy="38100"/>
          </a:xfrm>
          <a:prstGeom prst="rect">
            <a:avLst/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2628900" y="850850"/>
            <a:ext cx="1981051" cy="1409551"/>
          </a:xfrm>
          <a:prstGeom prst="roundRect">
            <a:avLst>
              <a:gd name="adj" fmla="val 4505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2628900" y="869900"/>
            <a:ext cx="1981051" cy="0"/>
          </a:xfrm>
          <a:prstGeom prst="line">
            <a:avLst/>
          </a:prstGeom>
          <a:noFill/>
          <a:ln w="38100">
            <a:solidFill>
              <a:srgbClr val="1B4F7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755850" y="1015901"/>
            <a:ext cx="176169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①' Issue更新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755850" y="1276201"/>
            <a:ext cx="17616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Issue上書き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2755850" y="1552426"/>
            <a:ext cx="17616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gh issue edit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4406801" y="1371600"/>
            <a:ext cx="126950" cy="38100"/>
          </a:xfrm>
          <a:prstGeom prst="rect">
            <a:avLst/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4584650" y="850850"/>
            <a:ext cx="1981051" cy="1409551"/>
          </a:xfrm>
          <a:prstGeom prst="roundRect">
            <a:avLst>
              <a:gd name="adj" fmla="val 4505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Shape 15"/>
          <p:cNvSpPr/>
          <p:nvPr/>
        </p:nvSpPr>
        <p:spPr>
          <a:xfrm>
            <a:off x="4584650" y="869900"/>
            <a:ext cx="1981051" cy="0"/>
          </a:xfrm>
          <a:prstGeom prst="line">
            <a:avLst/>
          </a:prstGeom>
          <a:noFill/>
          <a:ln w="38100">
            <a:solidFill>
              <a:srgbClr val="1B4F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11601" y="1015901"/>
            <a:ext cx="176169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② 設計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711601" y="1276201"/>
            <a:ext cx="17616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アーキテクチャ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11601" y="1552426"/>
            <a:ext cx="17616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feature-dev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6362700" y="1371600"/>
            <a:ext cx="126950" cy="38100"/>
          </a:xfrm>
          <a:prstGeom prst="rect">
            <a:avLst/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540401" y="850850"/>
            <a:ext cx="2197001" cy="1409551"/>
          </a:xfrm>
          <a:prstGeom prst="roundRect">
            <a:avLst>
              <a:gd name="adj" fmla="val 4505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6540401" y="869900"/>
            <a:ext cx="2197001" cy="0"/>
          </a:xfrm>
          <a:prstGeom prst="line">
            <a:avLst/>
          </a:prstGeom>
          <a:noFill/>
          <a:ln w="38100">
            <a:solidFill>
              <a:srgbClr val="1B4F72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667351" y="1015901"/>
            <a:ext cx="19819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③ デザイン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667351" y="1276201"/>
            <a:ext cx="19819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UIプロトタイプ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6667351" y="1552426"/>
            <a:ext cx="19819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frontend-design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480250" y="2019300"/>
            <a:ext cx="38100" cy="152400"/>
          </a:xfrm>
          <a:prstGeom prst="rect">
            <a:avLst/>
          </a:prstGeom>
          <a:solidFill>
            <a:srgbClr val="D0D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673001" y="2451050"/>
            <a:ext cx="1981051" cy="1409551"/>
          </a:xfrm>
          <a:prstGeom prst="roundRect">
            <a:avLst>
              <a:gd name="adj" fmla="val 4505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9" name="Shape 27"/>
          <p:cNvSpPr/>
          <p:nvPr/>
        </p:nvSpPr>
        <p:spPr>
          <a:xfrm>
            <a:off x="673001" y="2470100"/>
            <a:ext cx="1981051" cy="0"/>
          </a:xfrm>
          <a:prstGeom prst="line">
            <a:avLst/>
          </a:prstGeom>
          <a:noFill/>
          <a:ln w="38100">
            <a:solidFill>
              <a:srgbClr val="1B4F7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99951" y="2616101"/>
            <a:ext cx="176169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④ 実装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799951" y="2876401"/>
            <a:ext cx="17616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コーディング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799951" y="3152626"/>
            <a:ext cx="17616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feature-dev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2451050" y="2971800"/>
            <a:ext cx="126950" cy="38100"/>
          </a:xfrm>
          <a:prstGeom prst="rect">
            <a:avLst/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2628900" y="2451050"/>
            <a:ext cx="1981051" cy="1409551"/>
          </a:xfrm>
          <a:prstGeom prst="roundRect">
            <a:avLst>
              <a:gd name="adj" fmla="val 4505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Shape 33"/>
          <p:cNvSpPr/>
          <p:nvPr/>
        </p:nvSpPr>
        <p:spPr>
          <a:xfrm>
            <a:off x="2628900" y="2470100"/>
            <a:ext cx="1981051" cy="0"/>
          </a:xfrm>
          <a:prstGeom prst="line">
            <a:avLst/>
          </a:prstGeom>
          <a:noFill/>
          <a:ln w="38100">
            <a:solidFill>
              <a:srgbClr val="1B4F72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755850" y="2616101"/>
            <a:ext cx="176169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⑤ コミット/PR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2755850" y="2876401"/>
            <a:ext cx="17616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自動生成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755850" y="3152626"/>
            <a:ext cx="17616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commit-push-pr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406801" y="2971800"/>
            <a:ext cx="126950" cy="38100"/>
          </a:xfrm>
          <a:prstGeom prst="rect">
            <a:avLst/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38"/>
          <p:cNvSpPr/>
          <p:nvPr/>
        </p:nvSpPr>
        <p:spPr>
          <a:xfrm>
            <a:off x="4584650" y="2451050"/>
            <a:ext cx="1981051" cy="1409551"/>
          </a:xfrm>
          <a:prstGeom prst="roundRect">
            <a:avLst>
              <a:gd name="adj" fmla="val 4505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Shape 39"/>
          <p:cNvSpPr/>
          <p:nvPr/>
        </p:nvSpPr>
        <p:spPr>
          <a:xfrm>
            <a:off x="4584650" y="2470100"/>
            <a:ext cx="1981051" cy="0"/>
          </a:xfrm>
          <a:prstGeom prst="line">
            <a:avLst/>
          </a:prstGeom>
          <a:noFill/>
          <a:ln w="38100">
            <a:solidFill>
              <a:srgbClr val="1B4F72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711601" y="2616101"/>
            <a:ext cx="176169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⑥ レビュー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4711601" y="2876401"/>
            <a:ext cx="176169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3エージェント並列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4711601" y="3152626"/>
            <a:ext cx="1761693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review-pr</a:t>
            </a:r>
            <a:endParaRPr lang="en-US" sz="900" dirty="0"/>
          </a:p>
        </p:txBody>
      </p:sp>
      <p:sp>
        <p:nvSpPr>
          <p:cNvPr id="45" name="Text 43"/>
          <p:cNvSpPr/>
          <p:nvPr/>
        </p:nvSpPr>
        <p:spPr>
          <a:xfrm>
            <a:off x="6362700" y="2971800"/>
            <a:ext cx="126950" cy="38100"/>
          </a:xfrm>
          <a:prstGeom prst="rect">
            <a:avLst/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6" name="Text 44"/>
          <p:cNvSpPr/>
          <p:nvPr/>
        </p:nvSpPr>
        <p:spPr>
          <a:xfrm>
            <a:off x="6540401" y="2451050"/>
            <a:ext cx="2197001" cy="1409551"/>
          </a:xfrm>
          <a:prstGeom prst="roundRect">
            <a:avLst>
              <a:gd name="adj" fmla="val 4505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7" name="Shape 45"/>
          <p:cNvSpPr/>
          <p:nvPr/>
        </p:nvSpPr>
        <p:spPr>
          <a:xfrm>
            <a:off x="6540401" y="2470100"/>
            <a:ext cx="2197001" cy="0"/>
          </a:xfrm>
          <a:prstGeom prst="line">
            <a:avLst/>
          </a:prstGeom>
          <a:noFill/>
          <a:ln w="38100">
            <a:solidFill>
              <a:srgbClr val="1B4F72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667351" y="2616101"/>
            <a:ext cx="198196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⑦ ドキュメント</a:t>
            </a:r>
            <a:endParaRPr lang="en-US" sz="1100" dirty="0"/>
          </a:p>
        </p:txBody>
      </p:sp>
      <p:sp>
        <p:nvSpPr>
          <p:cNvPr id="49" name="Text 47"/>
          <p:cNvSpPr/>
          <p:nvPr/>
        </p:nvSpPr>
        <p:spPr>
          <a:xfrm>
            <a:off x="6667351" y="2876401"/>
            <a:ext cx="198196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400"/>
              </a:spcBef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CLAUDE.md更新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6667351" y="3152626"/>
            <a:ext cx="1981962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600"/>
              </a:spcBef>
              <a:buNone/>
            </a:pPr>
            <a:r>
              <a:rPr lang="en-US" sz="900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revise-claude-md</a:t>
            </a:r>
            <a:endParaRPr lang="en-US" sz="900" dirty="0"/>
          </a:p>
        </p:txBody>
      </p:sp>
      <p:sp>
        <p:nvSpPr>
          <p:cNvPr id="51" name="Text 49"/>
          <p:cNvSpPr/>
          <p:nvPr/>
        </p:nvSpPr>
        <p:spPr>
          <a:xfrm>
            <a:off x="673001" y="3759101"/>
            <a:ext cx="8165902" cy="634752"/>
          </a:xfrm>
          <a:prstGeom prst="roundRect">
            <a:avLst>
              <a:gd name="adj" fmla="val 10004"/>
            </a:avLst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2" name="Text 50"/>
          <p:cNvSpPr/>
          <p:nvPr/>
        </p:nvSpPr>
        <p:spPr>
          <a:xfrm>
            <a:off x="850702" y="3860602"/>
            <a:ext cx="79667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ガードレール（全フェーズ常時動作）：</a:t>
            </a:r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hookify / security-guidance / claude-md-management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8088532" y="4787801"/>
            <a:ext cx="71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13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3001" y="266700"/>
            <a:ext cx="79667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ガードレール：全フェーズで常時動作する3つの安全策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73001" y="723900"/>
            <a:ext cx="7810500" cy="12650"/>
          </a:xfrm>
          <a:prstGeom prst="rect">
            <a:avLst/>
          </a:prstGeom>
          <a:solidFill>
            <a:srgbClr val="D0D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Text 2"/>
          <p:cNvSpPr/>
          <p:nvPr/>
        </p:nvSpPr>
        <p:spPr>
          <a:xfrm>
            <a:off x="673001" y="888950"/>
            <a:ext cx="2457450" cy="3448050"/>
          </a:xfrm>
          <a:prstGeom prst="roundRect">
            <a:avLst>
              <a:gd name="adj" fmla="val 3101"/>
            </a:avLst>
          </a:prstGeom>
          <a:noFill/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Text 3"/>
          <p:cNvSpPr/>
          <p:nvPr/>
        </p:nvSpPr>
        <p:spPr>
          <a:xfrm>
            <a:off x="682526" y="898475"/>
            <a:ext cx="2438400" cy="787301"/>
          </a:xfrm>
          <a:prstGeom prst="roundRect">
            <a:avLst>
              <a:gd name="adj" fmla="val 8066"/>
            </a:avLst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6" name="Text 4"/>
          <p:cNvSpPr/>
          <p:nvPr/>
        </p:nvSpPr>
        <p:spPr>
          <a:xfrm>
            <a:off x="834926" y="1025426"/>
            <a:ext cx="21762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hookify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834926" y="1838176"/>
            <a:ext cx="21762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不要なふるまいを防止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34926" y="2123926"/>
            <a:ext cx="2176272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自然言語でルールを記述すると設定ファイルを自動生成。次セッションから自動適用。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34926" y="2904976"/>
            <a:ext cx="2133600" cy="603052"/>
          </a:xfrm>
          <a:prstGeom prst="roundRect">
            <a:avLst>
              <a:gd name="adj" fmla="val 8424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Shape 8"/>
          <p:cNvSpPr/>
          <p:nvPr/>
        </p:nvSpPr>
        <p:spPr>
          <a:xfrm>
            <a:off x="853976" y="2904976"/>
            <a:ext cx="0" cy="603052"/>
          </a:xfrm>
          <a:prstGeom prst="line">
            <a:avLst/>
          </a:prstGeom>
          <a:noFill/>
          <a:ln w="38100">
            <a:solidFill>
              <a:srgbClr val="2E86C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74527" y="3006477"/>
            <a:ext cx="193034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「テスト実行前にビルドを確認せずにコミットしないこと」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314700" y="888950"/>
            <a:ext cx="2457450" cy="3448050"/>
          </a:xfrm>
          <a:prstGeom prst="roundRect">
            <a:avLst>
              <a:gd name="adj" fmla="val 3101"/>
            </a:avLst>
          </a:prstGeom>
          <a:noFill/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3324225" y="898475"/>
            <a:ext cx="2438400" cy="787301"/>
          </a:xfrm>
          <a:prstGeom prst="roundRect">
            <a:avLst>
              <a:gd name="adj" fmla="val 8066"/>
            </a:avLst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3476625" y="1025426"/>
            <a:ext cx="2176272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security-guidance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476625" y="1838176"/>
            <a:ext cx="217627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セキュリティスキャン（自動）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3476625" y="2123926"/>
            <a:ext cx="2176272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settings.json で有効化。ファイル編集のたびに起動。XSS/インジェクション検知で書き込みをブロック。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476625" y="3114526"/>
            <a:ext cx="2133600" cy="803077"/>
          </a:xfrm>
          <a:prstGeom prst="roundRect">
            <a:avLst>
              <a:gd name="adj" fmla="val 632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3495675" y="3114526"/>
            <a:ext cx="0" cy="803077"/>
          </a:xfrm>
          <a:prstGeom prst="line">
            <a:avLst/>
          </a:prstGeom>
          <a:noFill/>
          <a:ln w="38100">
            <a:solidFill>
              <a:srgbClr val="E67E2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16226" y="3216027"/>
            <a:ext cx="1930348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実績：ブログ記事執筆中に2回発火（コードでなくドキュメントで）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956250" y="888950"/>
            <a:ext cx="2546300" cy="3448050"/>
          </a:xfrm>
          <a:prstGeom prst="roundRect">
            <a:avLst>
              <a:gd name="adj" fmla="val 2993"/>
            </a:avLst>
          </a:prstGeom>
          <a:noFill/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5965775" y="898475"/>
            <a:ext cx="2527250" cy="787301"/>
          </a:xfrm>
          <a:prstGeom prst="roundRect">
            <a:avLst>
              <a:gd name="adj" fmla="val 8066"/>
            </a:avLst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2" name="Text 20"/>
          <p:cNvSpPr/>
          <p:nvPr/>
        </p:nvSpPr>
        <p:spPr>
          <a:xfrm>
            <a:off x="6118175" y="1025426"/>
            <a:ext cx="22668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claude-md-management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118175" y="1838176"/>
            <a:ext cx="22668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1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継続更新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118175" y="2123926"/>
            <a:ext cx="226689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0"/>
              </a:lnSpc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各フェーズ完了後に学習内容を反映。次回セッションへ自動引き継ぎ。今回3回反復更新。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18175" y="2904976"/>
            <a:ext cx="2222450" cy="803077"/>
          </a:xfrm>
          <a:prstGeom prst="roundRect">
            <a:avLst>
              <a:gd name="adj" fmla="val 632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Shape 24"/>
          <p:cNvSpPr/>
          <p:nvPr/>
        </p:nvSpPr>
        <p:spPr>
          <a:xfrm>
            <a:off x="6137225" y="2904976"/>
            <a:ext cx="0" cy="803077"/>
          </a:xfrm>
          <a:prstGeom prst="line">
            <a:avLst/>
          </a:prstGeom>
          <a:noFill/>
          <a:ln w="38100">
            <a:solidFill>
              <a:srgbClr val="2E86C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257776" y="3006477"/>
            <a:ext cx="2020976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ライフサイクルテーブル・ビルド手順・リリースノートフローを追記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088532" y="4787801"/>
            <a:ext cx="71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13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3001" y="266700"/>
            <a:ext cx="796671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フェーズ①：要件定義 — /doc-coauthoring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73001" y="698450"/>
            <a:ext cx="7810500" cy="12650"/>
          </a:xfrm>
          <a:prstGeom prst="rect">
            <a:avLst/>
          </a:prstGeom>
          <a:solidFill>
            <a:srgbClr val="D0D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96813" y="800100"/>
            <a:ext cx="0" cy="457200"/>
          </a:xfrm>
          <a:prstGeom prst="line">
            <a:avLst/>
          </a:prstGeom>
          <a:noFill/>
          <a:ln w="47625">
            <a:solidFill>
              <a:srgbClr val="2E86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3026" y="800100"/>
            <a:ext cx="796671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との一問一答で仕様書が自動生成される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73001" y="1396901"/>
            <a:ext cx="4317950" cy="676126"/>
          </a:xfrm>
          <a:prstGeom prst="roundRect">
            <a:avLst>
              <a:gd name="adj" fmla="val 7513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92051" y="1396901"/>
            <a:ext cx="0" cy="676126"/>
          </a:xfrm>
          <a:prstGeom prst="line">
            <a:avLst/>
          </a:prstGeom>
          <a:noFill/>
          <a:ln w="38100">
            <a:solidFill>
              <a:srgbClr val="2E86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38051" y="1523851"/>
            <a:ext cx="41064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38051" y="1717477"/>
            <a:ext cx="410646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解決したい問題を具体的に教えてください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73001" y="2174528"/>
            <a:ext cx="4317950" cy="980926"/>
          </a:xfrm>
          <a:prstGeom prst="roundRect">
            <a:avLst>
              <a:gd name="adj" fmla="val 5179"/>
            </a:avLst>
          </a:prstGeom>
          <a:solidFill>
            <a:srgbClr val="FFFFFF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Shape 9"/>
          <p:cNvSpPr/>
          <p:nvPr/>
        </p:nvSpPr>
        <p:spPr>
          <a:xfrm>
            <a:off x="673001" y="2179290"/>
            <a:ext cx="431795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71901" y="2174528"/>
            <a:ext cx="0" cy="980926"/>
          </a:xfrm>
          <a:prstGeom prst="line">
            <a:avLst/>
          </a:prstGeom>
          <a:noFill/>
          <a:ln w="38100">
            <a:solidFill>
              <a:srgbClr val="1B4F72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73001" y="3150691"/>
            <a:ext cx="431795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77763" y="2174528"/>
            <a:ext cx="0" cy="980926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09476" y="2311003"/>
            <a:ext cx="409675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ユーザー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809476" y="2561779"/>
            <a:ext cx="40967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異なるフォルダにある同名ファイルを同時にタブで開けない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73001" y="3256955"/>
            <a:ext cx="4317950" cy="904726"/>
          </a:xfrm>
          <a:prstGeom prst="roundRect">
            <a:avLst>
              <a:gd name="adj" fmla="val 5615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Shape 16"/>
          <p:cNvSpPr/>
          <p:nvPr/>
        </p:nvSpPr>
        <p:spPr>
          <a:xfrm>
            <a:off x="692051" y="3256955"/>
            <a:ext cx="0" cy="904726"/>
          </a:xfrm>
          <a:prstGeom prst="line">
            <a:avLst/>
          </a:prstGeom>
          <a:noFill/>
          <a:ln w="38100">
            <a:solidFill>
              <a:srgbClr val="2E86C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38051" y="3383905"/>
            <a:ext cx="4106469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838051" y="3577530"/>
            <a:ext cx="410646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影響するコンポーネントはどのあたりですか？</a:t>
            </a:r>
            <a:endParaRPr lang="en-US" sz="1200" dirty="0"/>
          </a:p>
          <a:p>
            <a:pPr algn="l" indent="0" marL="0"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タブ管理・サイドバー・D&amp;Dのどれですか？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73001" y="4313932"/>
            <a:ext cx="4404309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背景・ユーザーストーリー・受け入れ条件・影響範囲・制限事項 の5セクションを対話で確定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168801" y="1396901"/>
            <a:ext cx="3314700" cy="3339852"/>
          </a:xfrm>
          <a:prstGeom prst="roundRect">
            <a:avLst>
              <a:gd name="adj" fmla="val 2299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5346502" y="1574602"/>
            <a:ext cx="301848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成果物：仕様書 5セクション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346502" y="1930152"/>
            <a:ext cx="2959298" cy="1498402"/>
          </a:xfrm>
          <a:prstGeom prst="rect">
            <a:avLst/>
          </a:prstGeom>
          <a:noFill/>
          <a:ln/>
        </p:spPr>
        <p:txBody>
          <a:bodyPr wrap="square" lIns="88900" tIns="0" rIns="0" bIns="0" rtlCol="0" anchor="t"/>
          <a:lstStyle/>
          <a:p>
            <a:pPr algn="l" marL="88900" indent="-88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背景と問題</a:t>
            </a:r>
            <a:endParaRPr lang="en-US" sz="1200" dirty="0"/>
          </a:p>
          <a:p>
            <a:pPr algn="l" marL="88900" indent="-88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ユーザーストーリー</a:t>
            </a:r>
            <a:endParaRPr lang="en-US" sz="1200" dirty="0"/>
          </a:p>
          <a:p>
            <a:pPr algn="l" marL="88900" indent="-88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受け入れ条件（AC-1〜AC-7）</a:t>
            </a:r>
            <a:endParaRPr lang="en-US" sz="1200" dirty="0"/>
          </a:p>
          <a:p>
            <a:pPr algn="l" marL="88900" indent="-88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影響範囲</a:t>
            </a:r>
            <a:endParaRPr lang="en-US" sz="1200" dirty="0"/>
          </a:p>
          <a:p>
            <a:pPr algn="l" marL="88900" indent="-88900"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制限事項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346502" y="3580954"/>
            <a:ext cx="2959298" cy="422077"/>
          </a:xfrm>
          <a:prstGeom prst="roundRect">
            <a:avLst>
              <a:gd name="adj" fmla="val 1203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5457527" y="3691979"/>
            <a:ext cx="279199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保存先：docs/issue-10-same-name-file-spec.md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73001" y="4470350"/>
            <a:ext cx="8115300" cy="406152"/>
          </a:xfrm>
          <a:prstGeom prst="roundRect">
            <a:avLst>
              <a:gd name="adj" fmla="val 12508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825401" y="4533751"/>
            <a:ext cx="79667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仕様確定後、gh issue edit で Issue #10 のタイトルと本文を自動上書き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088532" y="4787801"/>
            <a:ext cx="71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13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3001" y="203150"/>
            <a:ext cx="796671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フェーズ②：設計 — /feature-dev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73001" y="599926"/>
            <a:ext cx="79667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code-explorer（根本原因特定） + code-architect（A/B設計提案）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73001" y="762000"/>
            <a:ext cx="7810500" cy="12650"/>
          </a:xfrm>
          <a:prstGeom prst="rect">
            <a:avLst/>
          </a:prstGeom>
          <a:solidFill>
            <a:srgbClr val="D0D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96813" y="863501"/>
            <a:ext cx="0" cy="381000"/>
          </a:xfrm>
          <a:prstGeom prst="line">
            <a:avLst/>
          </a:prstGeom>
          <a:noFill/>
          <a:ln w="47625">
            <a:solidFill>
              <a:srgbClr val="2E86C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73026" y="863501"/>
            <a:ext cx="79667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code-architect が A/B で設計案を提示 → ユーザーが「Bで」と選択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73001" y="1371600"/>
            <a:ext cx="3638550" cy="2686050"/>
          </a:xfrm>
          <a:prstGeom prst="roundRect">
            <a:avLst>
              <a:gd name="adj" fmla="val 2837"/>
            </a:avLst>
          </a:prstGeom>
          <a:noFill/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682526" y="1381125"/>
            <a:ext cx="3619500" cy="457200"/>
          </a:xfrm>
          <a:prstGeom prst="roundRect">
            <a:avLst>
              <a:gd name="adj" fmla="val 13889"/>
            </a:avLst>
          </a:prstGeom>
          <a:solidFill>
            <a:srgbClr val="9E9E9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9" name="Text 7"/>
          <p:cNvSpPr/>
          <p:nvPr/>
        </p:nvSpPr>
        <p:spPr>
          <a:xfrm>
            <a:off x="834926" y="1495425"/>
            <a:ext cx="338099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案A：FileInfo 型にユニークID追加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4926" y="1990725"/>
            <a:ext cx="338099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FileInfo 型に uniqueId フィールドを追加して同一性を判定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34926" y="2549426"/>
            <a:ext cx="3314700" cy="882402"/>
          </a:xfrm>
          <a:prstGeom prst="roundRect">
            <a:avLst>
              <a:gd name="adj" fmla="val 57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53976" y="2549426"/>
            <a:ext cx="0" cy="882402"/>
          </a:xfrm>
          <a:prstGeom prst="line">
            <a:avLst/>
          </a:prstGeom>
          <a:noFill/>
          <a:ln w="38100">
            <a:solidFill>
              <a:srgbClr val="E67E2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4527" y="2650927"/>
            <a:ext cx="313507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デメリット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74527" y="2911227"/>
            <a:ext cx="313507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型が肥大化。path と uniqueId の不整合リスクが残る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416806" y="2501801"/>
            <a:ext cx="284937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800600" y="1371600"/>
            <a:ext cx="3721001" cy="2705100"/>
          </a:xfrm>
          <a:prstGeom prst="roundRect">
            <a:avLst>
              <a:gd name="adj" fmla="val 2817"/>
            </a:avLst>
          </a:prstGeom>
          <a:noFill/>
          <a:ln w="19050">
            <a:solidFill>
              <a:srgbClr val="2E86C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4819650" y="1390650"/>
            <a:ext cx="3682901" cy="457200"/>
          </a:xfrm>
          <a:prstGeom prst="roundRect">
            <a:avLst>
              <a:gd name="adj" fmla="val 13889"/>
            </a:avLst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8" name="Text 16"/>
          <p:cNvSpPr/>
          <p:nvPr/>
        </p:nvSpPr>
        <p:spPr>
          <a:xfrm>
            <a:off x="4972050" y="1504950"/>
            <a:ext cx="344566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案B：isSameEntry() API で判定　★採用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972050" y="2000250"/>
            <a:ext cx="34456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FileSystemFileHandle.isSameEntry() でファイルシステムレベルで同一性を判定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972050" y="2558951"/>
            <a:ext cx="3378101" cy="882402"/>
          </a:xfrm>
          <a:prstGeom prst="roundRect">
            <a:avLst>
              <a:gd name="adj" fmla="val 5757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4991100" y="2558951"/>
            <a:ext cx="0" cy="882402"/>
          </a:xfrm>
          <a:prstGeom prst="line">
            <a:avLst/>
          </a:prstGeom>
          <a:noFill/>
          <a:ln w="38100">
            <a:solidFill>
              <a:srgbClr val="2E86C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111651" y="2660452"/>
            <a:ext cx="319973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1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メリット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5111651" y="2920752"/>
            <a:ext cx="3199739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型に余計なフィールド不要。シンボリックリンクも正確に判定。後のレビューでも正解と確認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673001" y="4165550"/>
            <a:ext cx="8115300" cy="685502"/>
          </a:xfrm>
          <a:prstGeom prst="roundRect">
            <a:avLst>
              <a:gd name="adj" fmla="val 7411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825401" y="4267051"/>
            <a:ext cx="79667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code-explorer による根本原因：</a:t>
            </a:r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directoryReader.ts が再帰時に parentPath を引き継がず、全ファイルが同じパス形式に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8088532" y="4787801"/>
            <a:ext cx="71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13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3001" y="266700"/>
            <a:ext cx="79667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フェーズ④：実装 — 5ファイル修正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73001" y="723900"/>
            <a:ext cx="7810500" cy="12650"/>
          </a:xfrm>
          <a:prstGeom prst="rect">
            <a:avLst/>
          </a:prstGeom>
          <a:solidFill>
            <a:srgbClr val="D0D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96813" y="825401"/>
            <a:ext cx="0" cy="406301"/>
          </a:xfrm>
          <a:prstGeom prst="line">
            <a:avLst/>
          </a:prstGeom>
          <a:noFill/>
          <a:ln w="47625">
            <a:solidFill>
              <a:srgbClr val="2E86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3026" y="825401"/>
            <a:ext cx="79667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feature-dev がコード生成、ビルド・テスト・バージョン更新・zip再作成まで完了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73001" y="1371600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776622" y="1439763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079302" y="1371600"/>
            <a:ext cx="28514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directoryReader.ts（根本修正）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79302" y="1625501"/>
            <a:ext cx="285149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parentPath を追加してフルパスを正しく構築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73001" y="1949351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1" name="Text 9"/>
          <p:cNvSpPr/>
          <p:nvPr/>
        </p:nvSpPr>
        <p:spPr>
          <a:xfrm>
            <a:off x="776622" y="2017514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079302" y="1949351"/>
            <a:ext cx="40484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useTabOpen.ts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79302" y="2146102"/>
            <a:ext cx="40484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isSameEntry() 導入 + D&amp;D は name::size::lastModified 複合キー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73001" y="2469952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776622" y="2538115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079302" y="2469952"/>
            <a:ext cx="3901684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TabBar.tsx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79302" y="2666702"/>
            <a:ext cx="3901684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同名タブのみ dir/filename 形式で表示（useMemo で最適化）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673001" y="2990552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776622" y="3058716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079302" y="2990552"/>
            <a:ext cx="3514279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useTabRestore.ts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079302" y="3187303"/>
            <a:ext cx="3514279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isCancelled フラグで競合状態（race condition）を防止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73001" y="3511153"/>
            <a:ext cx="279350" cy="279350"/>
          </a:xfrm>
          <a:prstGeom prst="roundRect">
            <a:avLst>
              <a:gd name="adj" fmla="val 327331"/>
            </a:avLst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776622" y="3579316"/>
            <a:ext cx="72107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1079302" y="3511153"/>
            <a:ext cx="2756621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useDragDrop.ts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79302" y="3707904"/>
            <a:ext cx="2756621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1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空の catch ブロックに console.warn を追加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295900" y="1371600"/>
            <a:ext cx="3187601" cy="3403402"/>
          </a:xfrm>
          <a:prstGeom prst="roundRect">
            <a:avLst>
              <a:gd name="adj" fmla="val 2391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7" name="Text 25"/>
          <p:cNvSpPr/>
          <p:nvPr/>
        </p:nvSpPr>
        <p:spPr>
          <a:xfrm>
            <a:off x="5473601" y="1549301"/>
            <a:ext cx="288884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ビルド・テスト・リリース準備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473601" y="1930301"/>
            <a:ext cx="28888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バージョン更新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5473601" y="2165152"/>
            <a:ext cx="28888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200"/>
              </a:spcBef>
              <a:buNone/>
            </a:pPr>
            <a:r>
              <a:rPr lang="en-US" sz="1000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manifest.json：1.2.1 → 1.2.2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73601" y="2492127"/>
            <a:ext cx="28888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ビルド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5473601" y="2726978"/>
            <a:ext cx="2832199" cy="288727"/>
          </a:xfrm>
          <a:prstGeom prst="roundRect">
            <a:avLst>
              <a:gd name="adj" fmla="val 1319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2" name="Text 30"/>
          <p:cNvSpPr/>
          <p:nvPr/>
        </p:nvSpPr>
        <p:spPr>
          <a:xfrm>
            <a:off x="5584627" y="2799904"/>
            <a:ext cx="26623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build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73601" y="3142655"/>
            <a:ext cx="28888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テスト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473601" y="3377505"/>
            <a:ext cx="2832199" cy="288727"/>
          </a:xfrm>
          <a:prstGeom prst="roundRect">
            <a:avLst>
              <a:gd name="adj" fmla="val 1319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5" name="Text 33"/>
          <p:cNvSpPr/>
          <p:nvPr/>
        </p:nvSpPr>
        <p:spPr>
          <a:xfrm>
            <a:off x="5584627" y="3450431"/>
            <a:ext cx="2662351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npm run test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73601" y="3704332"/>
            <a:ext cx="2888843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Bef>
                <a:spcPts val="300"/>
              </a:spcBef>
              <a:buNone/>
            </a:pPr>
            <a:r>
              <a:rPr lang="en-US" sz="1000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Vitest 73件 全パス ✓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5473601" y="4031307"/>
            <a:ext cx="2888843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zip再作成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5473601" y="4266158"/>
            <a:ext cx="2832199" cy="412552"/>
          </a:xfrm>
          <a:prstGeom prst="roundRect">
            <a:avLst>
              <a:gd name="adj" fmla="val 923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37"/>
          <p:cNvSpPr/>
          <p:nvPr/>
        </p:nvSpPr>
        <p:spPr>
          <a:xfrm>
            <a:off x="5584627" y="4339084"/>
            <a:ext cx="2662351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zip -r rich-markdown-preview.zip dist/ public/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8088532" y="4787801"/>
            <a:ext cx="71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13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3001" y="266700"/>
            <a:ext cx="7966710" cy="371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フェーズ⑤：コミット/PR — commit-commands:commit-push-pr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73001" y="698450"/>
            <a:ext cx="7810500" cy="12650"/>
          </a:xfrm>
          <a:prstGeom prst="rect">
            <a:avLst/>
          </a:prstGeom>
          <a:solidFill>
            <a:srgbClr val="D0D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96813" y="800100"/>
            <a:ext cx="0" cy="406301"/>
          </a:xfrm>
          <a:prstGeom prst="line">
            <a:avLst/>
          </a:prstGeom>
          <a:noFill/>
          <a:ln w="47625">
            <a:solidFill>
              <a:srgbClr val="2E86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3026" y="800100"/>
            <a:ext cx="79667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1コマンドで コミット・プッシュ・PR作成 が完了。コミットメッセージも自動生成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73001" y="1320701"/>
            <a:ext cx="7867650" cy="2813000"/>
          </a:xfrm>
          <a:prstGeom prst="roundRect">
            <a:avLst>
              <a:gd name="adj" fmla="val 2709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Shape 5"/>
          <p:cNvSpPr/>
          <p:nvPr/>
        </p:nvSpPr>
        <p:spPr>
          <a:xfrm>
            <a:off x="673001" y="1325463"/>
            <a:ext cx="786765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535888" y="1320701"/>
            <a:ext cx="0" cy="281300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73001" y="4128939"/>
            <a:ext cx="786765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96813" y="1320701"/>
            <a:ext cx="0" cy="2813000"/>
          </a:xfrm>
          <a:prstGeom prst="line">
            <a:avLst/>
          </a:prstGeom>
          <a:noFill/>
          <a:ln w="47625">
            <a:solidFill>
              <a:srgbClr val="1B4F72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20626" y="1330226"/>
            <a:ext cx="7810500" cy="301526"/>
          </a:xfrm>
          <a:prstGeom prst="roundRect">
            <a:avLst>
              <a:gd name="adj" fmla="val 21060"/>
            </a:avLst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Text 10"/>
          <p:cNvSpPr/>
          <p:nvPr/>
        </p:nvSpPr>
        <p:spPr>
          <a:xfrm>
            <a:off x="898327" y="1380976"/>
            <a:ext cx="7604200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自動生成されたコミットメッセージ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98327" y="1809452"/>
            <a:ext cx="7604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2E86C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fix: 同名ファイルを別タブで開けない問題を修正 (#10)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98327" y="2215753"/>
            <a:ext cx="7455098" cy="1352550"/>
          </a:xfrm>
          <a:prstGeom prst="rect">
            <a:avLst/>
          </a:prstGeom>
          <a:noFill/>
          <a:ln/>
        </p:spPr>
        <p:txBody>
          <a:bodyPr wrap="square" lIns="101600" tIns="0" rIns="0" bIns="0" rtlCol="0" anchor="t"/>
          <a:lstStyle/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directoryReader でフルパスを正しく構築（parentPath 再帰引き継ぎ）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useTabOpen で FileSystemFileHandle.isSameEntry() による同一性判定を導入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D&amp;D ファイルは name::size::lastModified 複合キーに統一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TabBar で同名タブが複数の場合のみ parentDir/filename 形式で表示</a:t>
            </a:r>
            <a:endParaRPr lang="en-US" sz="1100" dirty="0"/>
          </a:p>
          <a:p>
            <a:pPr algn="l" marL="101600" indent="-101600">
              <a:spcAft>
                <a:spcPts val="600"/>
              </a:spcAft>
              <a:buSzPct val="100000"/>
              <a:buChar char="•"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useTabRestore に isCancelled フラグを追加し競合状態を防止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73001" y="4241750"/>
            <a:ext cx="8115300" cy="584002"/>
          </a:xfrm>
          <a:prstGeom prst="roundRect">
            <a:avLst>
              <a:gd name="adj" fmla="val 8699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25401" y="4330601"/>
            <a:ext cx="79667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 #13</a:t>
            </a:r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masayan1126/chrome-extensions — 概要・変更ファイル一覧・テスト手順付きで自動オープン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088532" y="4787801"/>
            <a:ext cx="71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13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3001" y="266700"/>
            <a:ext cx="79667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フェーズ⑥：レビュー — 3エージェントが並列実行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73001" y="723900"/>
            <a:ext cx="7810500" cy="12650"/>
          </a:xfrm>
          <a:prstGeom prst="rect">
            <a:avLst/>
          </a:prstGeom>
          <a:solidFill>
            <a:srgbClr val="D0D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96813" y="825401"/>
            <a:ext cx="0" cy="381000"/>
          </a:xfrm>
          <a:prstGeom prst="line">
            <a:avLst/>
          </a:prstGeom>
          <a:noFill/>
          <a:ln w="47625">
            <a:solidFill>
              <a:srgbClr val="2E86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3026" y="825401"/>
            <a:ext cx="79667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3つの問題を発見 → ユーザーは「1」と打っただけで全修正完了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73001" y="1333500"/>
            <a:ext cx="2457450" cy="2876550"/>
          </a:xfrm>
          <a:prstGeom prst="roundRect">
            <a:avLst>
              <a:gd name="adj" fmla="val 3101"/>
            </a:avLst>
          </a:prstGeom>
          <a:noFill/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2526" y="1343025"/>
            <a:ext cx="2438400" cy="381000"/>
          </a:xfrm>
          <a:prstGeom prst="roundRect">
            <a:avLst>
              <a:gd name="adj" fmla="val 16667"/>
            </a:avLst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34926" y="1457325"/>
            <a:ext cx="2176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type-design-analyzer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34926" y="1876425"/>
            <a:ext cx="21762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指摘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834926" y="2152650"/>
            <a:ext cx="2176272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FileInfo 型の dirName は path から常に導出可能 → 冗長フィールドで不整合リスク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34926" y="2908250"/>
            <a:ext cx="2133600" cy="1082427"/>
          </a:xfrm>
          <a:prstGeom prst="roundRect">
            <a:avLst>
              <a:gd name="adj" fmla="val 4693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2" name="Shape 10"/>
          <p:cNvSpPr/>
          <p:nvPr/>
        </p:nvSpPr>
        <p:spPr>
          <a:xfrm>
            <a:off x="853976" y="2908250"/>
            <a:ext cx="0" cy="1082427"/>
          </a:xfrm>
          <a:prstGeom prst="line">
            <a:avLst/>
          </a:prstGeom>
          <a:noFill/>
          <a:ln w="38100">
            <a:solidFill>
              <a:srgbClr val="2E86C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74527" y="3009751"/>
            <a:ext cx="19303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修正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974527" y="3260527"/>
            <a:ext cx="1930348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getDirName() ユーティリティに変更。型から dirName を削除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314700" y="1333500"/>
            <a:ext cx="2457450" cy="2876550"/>
          </a:xfrm>
          <a:prstGeom prst="roundRect">
            <a:avLst>
              <a:gd name="adj" fmla="val 3101"/>
            </a:avLst>
          </a:prstGeom>
          <a:noFill/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3324225" y="1343025"/>
            <a:ext cx="2438400" cy="381000"/>
          </a:xfrm>
          <a:prstGeom prst="roundRect">
            <a:avLst>
              <a:gd name="adj" fmla="val 16667"/>
            </a:avLst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7" name="Text 15"/>
          <p:cNvSpPr/>
          <p:nvPr/>
        </p:nvSpPr>
        <p:spPr>
          <a:xfrm>
            <a:off x="3476625" y="1457325"/>
            <a:ext cx="2176272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silent-failure-hunter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476625" y="1876425"/>
            <a:ext cx="217627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指摘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3476625" y="2152650"/>
            <a:ext cx="2176272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useDragDrop.ts の catch が全エラーを無音で飲み込む。エラーの種類が区別できない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476625" y="2908250"/>
            <a:ext cx="2133600" cy="872877"/>
          </a:xfrm>
          <a:prstGeom prst="roundRect">
            <a:avLst>
              <a:gd name="adj" fmla="val 5820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Shape 19"/>
          <p:cNvSpPr/>
          <p:nvPr/>
        </p:nvSpPr>
        <p:spPr>
          <a:xfrm>
            <a:off x="3495675" y="2908250"/>
            <a:ext cx="0" cy="872877"/>
          </a:xfrm>
          <a:prstGeom prst="line">
            <a:avLst/>
          </a:prstGeom>
          <a:noFill/>
          <a:ln w="38100">
            <a:solidFill>
              <a:srgbClr val="2E86C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616226" y="3009751"/>
            <a:ext cx="1930348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修正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3616226" y="3260527"/>
            <a:ext cx="1930348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console.warn でエラーを記録するよう追加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56250" y="1333500"/>
            <a:ext cx="2546300" cy="2876550"/>
          </a:xfrm>
          <a:prstGeom prst="roundRect">
            <a:avLst>
              <a:gd name="adj" fmla="val 2993"/>
            </a:avLst>
          </a:prstGeom>
          <a:noFill/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Text 23"/>
          <p:cNvSpPr/>
          <p:nvPr/>
        </p:nvSpPr>
        <p:spPr>
          <a:xfrm>
            <a:off x="5965775" y="1343025"/>
            <a:ext cx="2527250" cy="381000"/>
          </a:xfrm>
          <a:prstGeom prst="roundRect">
            <a:avLst>
              <a:gd name="adj" fmla="val 16667"/>
            </a:avLst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118175" y="1457325"/>
            <a:ext cx="2266899" cy="152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code-reviewer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118175" y="1876425"/>
            <a:ext cx="226689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600"/>
              </a:spcAft>
              <a:buNone/>
            </a:pPr>
            <a:r>
              <a:rPr lang="en-US" sz="1000" b="1" dirty="0">
                <a:solidFill>
                  <a:srgbClr val="E67E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指摘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18175" y="2152650"/>
            <a:ext cx="2266899" cy="628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000"/>
              </a:spcAft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isSameEntry() の catch が DOMException のタイプを区別していない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118175" y="2908250"/>
            <a:ext cx="2222450" cy="1025277"/>
          </a:xfrm>
          <a:prstGeom prst="roundRect">
            <a:avLst>
              <a:gd name="adj" fmla="val 4955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Shape 28"/>
          <p:cNvSpPr/>
          <p:nvPr/>
        </p:nvSpPr>
        <p:spPr>
          <a:xfrm>
            <a:off x="6137225" y="2908250"/>
            <a:ext cx="0" cy="1025277"/>
          </a:xfrm>
          <a:prstGeom prst="line">
            <a:avLst/>
          </a:prstGeom>
          <a:noFill/>
          <a:ln w="38100">
            <a:solidFill>
              <a:srgbClr val="2E86C1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257776" y="3009751"/>
            <a:ext cx="2020976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0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修正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6257776" y="3260527"/>
            <a:ext cx="2020976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InvalidStateError/SecurityError → debug、その他 → warn に分岐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3001" y="4317950"/>
            <a:ext cx="8115300" cy="558701"/>
          </a:xfrm>
          <a:prstGeom prst="roundRect">
            <a:avLst>
              <a:gd name="adj" fmla="val 9093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4" name="Text 32"/>
          <p:cNvSpPr/>
          <p:nvPr/>
        </p:nvSpPr>
        <p:spPr>
          <a:xfrm>
            <a:off x="825401" y="4406801"/>
            <a:ext cx="79667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ユーザーの入力：「1」</a:t>
            </a:r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これだけで全3件の修正が完了。並列レビューの積み重ねが開発速度の差になる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8088532" y="4787801"/>
            <a:ext cx="71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13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3001" y="266700"/>
            <a:ext cx="79667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フェーズ⑦：ドキュメント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73001" y="723900"/>
            <a:ext cx="7810500" cy="12650"/>
          </a:xfrm>
          <a:prstGeom prst="rect">
            <a:avLst/>
          </a:prstGeom>
          <a:solidFill>
            <a:srgbClr val="D0D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96813" y="825401"/>
            <a:ext cx="0" cy="381000"/>
          </a:xfrm>
          <a:prstGeom prst="line">
            <a:avLst/>
          </a:prstGeom>
          <a:noFill/>
          <a:ln w="47625">
            <a:solidFill>
              <a:srgbClr val="2E86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3026" y="825401"/>
            <a:ext cx="79667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セッションの学びを次回に引き継ぐ。読者に合わせて文体を自動で書き分ける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73001" y="1320701"/>
            <a:ext cx="3759101" cy="3466802"/>
          </a:xfrm>
          <a:prstGeom prst="roundRect">
            <a:avLst>
              <a:gd name="adj" fmla="val 2198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850702" y="1498402"/>
            <a:ext cx="3471773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CLAUDE.md — 3回の反復更新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50702" y="1777752"/>
            <a:ext cx="3471773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claude-md-management:revise-claude-md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50702" y="207302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848163" y="2073027"/>
            <a:ext cx="25897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206103" y="2073027"/>
            <a:ext cx="310926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Issue更新フロー（①'）をライフサイクルテーブルに追加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50702" y="2619077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3" name="Text 11"/>
          <p:cNvSpPr/>
          <p:nvPr/>
        </p:nvSpPr>
        <p:spPr>
          <a:xfrm>
            <a:off x="848163" y="2619077"/>
            <a:ext cx="25897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206103" y="2619077"/>
            <a:ext cx="255563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internal-comms をライフサイクルに追加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50702" y="2999929"/>
            <a:ext cx="253901" cy="253901"/>
          </a:xfrm>
          <a:prstGeom prst="roundRect">
            <a:avLst>
              <a:gd name="adj" fmla="val 360140"/>
            </a:avLst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6" name="Text 14"/>
          <p:cNvSpPr/>
          <p:nvPr/>
        </p:nvSpPr>
        <p:spPr>
          <a:xfrm>
            <a:off x="848163" y="2999929"/>
            <a:ext cx="258979" cy="254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206103" y="2999929"/>
            <a:ext cx="3109264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独立していた箇条書きをライフサイクルの文脈に統合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50702" y="3596729"/>
            <a:ext cx="3403699" cy="422077"/>
          </a:xfrm>
          <a:prstGeom prst="roundRect">
            <a:avLst>
              <a:gd name="adj" fmla="val 12036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9" name="Text 17"/>
          <p:cNvSpPr/>
          <p:nvPr/>
        </p:nvSpPr>
        <p:spPr>
          <a:xfrm>
            <a:off x="961727" y="3707755"/>
            <a:ext cx="3245281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次回セッションで全自動引き継ぎ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610100" y="1320701"/>
            <a:ext cx="3873401" cy="3466802"/>
          </a:xfrm>
          <a:prstGeom prst="roundRect">
            <a:avLst>
              <a:gd name="adj" fmla="val 2198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1" name="Text 19"/>
          <p:cNvSpPr/>
          <p:nvPr/>
        </p:nvSpPr>
        <p:spPr>
          <a:xfrm>
            <a:off x="4787801" y="1498402"/>
            <a:ext cx="358835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400"/>
              </a:spcAft>
              <a:buNone/>
            </a:pPr>
            <a:r>
              <a:rPr lang="en-US" sz="1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リリースノート — 2種類を自動生成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87801" y="1777752"/>
            <a:ext cx="358835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1200"/>
              </a:spcAft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internal-comms（保存先：docs/release-notes-v1.2.2.md）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787801" y="2130177"/>
            <a:ext cx="3517999" cy="371475"/>
          </a:xfrm>
          <a:prstGeom prst="roundRect">
            <a:avLst>
              <a:gd name="adj" fmla="val 1367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4" name="Text 22"/>
          <p:cNvSpPr/>
          <p:nvPr/>
        </p:nvSpPr>
        <p:spPr>
          <a:xfrm>
            <a:off x="4924276" y="2215902"/>
            <a:ext cx="33099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 Releases向け（技術者）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787801" y="2577852"/>
            <a:ext cx="3517999" cy="755154"/>
          </a:xfrm>
          <a:prstGeom prst="roundRect">
            <a:avLst>
              <a:gd name="adj" fmla="val 672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4898827" y="2688878"/>
            <a:ext cx="3361867" cy="5331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"FileSystemFileHandle.isSameEntry() API を使った正確なファイル同一性判定に変更。directoryReader にてフルパスを正しく構築——"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87801" y="3485406"/>
            <a:ext cx="3517999" cy="371475"/>
          </a:xfrm>
          <a:prstGeom prst="roundRect">
            <a:avLst>
              <a:gd name="adj" fmla="val 13675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8" name="Text 26"/>
          <p:cNvSpPr/>
          <p:nvPr/>
        </p:nvSpPr>
        <p:spPr>
          <a:xfrm>
            <a:off x="4924276" y="3571131"/>
            <a:ext cx="3309949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Chrome拡張ストア向け（一般ユーザー）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7801" y="3933081"/>
            <a:ext cx="3517999" cy="577453"/>
          </a:xfrm>
          <a:prstGeom prst="roundRect">
            <a:avLst>
              <a:gd name="adj" fmla="val 8797"/>
            </a:avLst>
          </a:prstGeom>
          <a:solidFill>
            <a:srgbClr val="FFFFFF"/>
          </a:solidFill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4898827" y="4044107"/>
            <a:ext cx="3361867" cy="3554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"フォルダが違えば同じ名前のファイルでも、それぞれ別タブとして開けるようになりました。"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088532" y="4787801"/>
            <a:ext cx="71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13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73001" y="266700"/>
            <a:ext cx="79667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バグ修正確認とまとめ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673001" y="723900"/>
            <a:ext cx="7810500" cy="12650"/>
          </a:xfrm>
          <a:prstGeom prst="rect">
            <a:avLst/>
          </a:prstGeom>
          <a:solidFill>
            <a:srgbClr val="D0D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" name="Shape 2"/>
          <p:cNvSpPr/>
          <p:nvPr/>
        </p:nvSpPr>
        <p:spPr>
          <a:xfrm>
            <a:off x="696813" y="825401"/>
            <a:ext cx="0" cy="381000"/>
          </a:xfrm>
          <a:prstGeom prst="line">
            <a:avLst/>
          </a:prstGeom>
          <a:noFill/>
          <a:ln w="47625">
            <a:solidFill>
              <a:srgbClr val="2E86C1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73026" y="825401"/>
            <a:ext cx="796671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dir1/README.md と dir2/README.md が別タブで開けるようになった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73001" y="1358801"/>
            <a:ext cx="3219450" cy="1543050"/>
          </a:xfrm>
          <a:prstGeom prst="roundRect">
            <a:avLst>
              <a:gd name="adj" fmla="val 4938"/>
            </a:avLst>
          </a:prstGeom>
          <a:solidFill>
            <a:srgbClr val="F5F5F5"/>
          </a:solidFill>
          <a:ln w="9525">
            <a:solidFill>
              <a:srgbClr val="D0D0D0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7" name="Text 5"/>
          <p:cNvSpPr/>
          <p:nvPr/>
        </p:nvSpPr>
        <p:spPr>
          <a:xfrm>
            <a:off x="682526" y="1368326"/>
            <a:ext cx="3200400" cy="387251"/>
          </a:xfrm>
          <a:prstGeom prst="roundRect">
            <a:avLst>
              <a:gd name="adj" fmla="val 16398"/>
            </a:avLst>
          </a:prstGeom>
          <a:solidFill>
            <a:srgbClr val="9E9E9E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8" name="Text 6"/>
          <p:cNvSpPr/>
          <p:nvPr/>
        </p:nvSpPr>
        <p:spPr>
          <a:xfrm>
            <a:off x="834926" y="1457176"/>
            <a:ext cx="2953512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修正前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834926" y="1907977"/>
            <a:ext cx="2953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README.md（タブ1）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834926" y="2199977"/>
            <a:ext cx="295351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README.md → タブ2が開かない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34926" y="2530078"/>
            <a:ext cx="2953512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同名ファイルを区別できない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970478" y="1930301"/>
            <a:ext cx="466344" cy="352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08450" y="1358801"/>
            <a:ext cx="4013150" cy="1562100"/>
          </a:xfrm>
          <a:prstGeom prst="roundRect">
            <a:avLst>
              <a:gd name="adj" fmla="val 4878"/>
            </a:avLst>
          </a:prstGeom>
          <a:solidFill>
            <a:srgbClr val="F5F5F5"/>
          </a:solidFill>
          <a:ln w="19050">
            <a:solidFill>
              <a:srgbClr val="2E86C1"/>
            </a:solidFill>
          </a:ln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4" name="Text 12"/>
          <p:cNvSpPr/>
          <p:nvPr/>
        </p:nvSpPr>
        <p:spPr>
          <a:xfrm>
            <a:off x="4527500" y="1377851"/>
            <a:ext cx="3975050" cy="387251"/>
          </a:xfrm>
          <a:prstGeom prst="roundRect">
            <a:avLst>
              <a:gd name="adj" fmla="val 16398"/>
            </a:avLst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5" name="Text 13"/>
          <p:cNvSpPr/>
          <p:nvPr/>
        </p:nvSpPr>
        <p:spPr>
          <a:xfrm>
            <a:off x="4679900" y="1466701"/>
            <a:ext cx="3743655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修正後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79900" y="1917502"/>
            <a:ext cx="3743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500"/>
              </a:spcAft>
              <a:buNone/>
            </a:pPr>
            <a:r>
              <a:rPr lang="en-US" sz="12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dir1/README.md（タブ1）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679900" y="2209502"/>
            <a:ext cx="374365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spcAft>
                <a:spcPts val="800"/>
              </a:spcAft>
              <a:buNone/>
            </a:pPr>
            <a:r>
              <a:rPr lang="en-US" sz="1200" b="1" dirty="0">
                <a:solidFill>
                  <a:srgbClr val="2E86C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dir2/README.md（タブ2）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679900" y="2539603"/>
            <a:ext cx="3743655" cy="2000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両方が別タブで開き、どちらか一目でわかる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673001" y="3162300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669953" y="3162300"/>
            <a:ext cx="3108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30201" y="3190875"/>
            <a:ext cx="4057436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7フェーズをすべてAnthropicの公式ツールだけで完結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73001" y="3708350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3" name="Text 21"/>
          <p:cNvSpPr/>
          <p:nvPr/>
        </p:nvSpPr>
        <p:spPr>
          <a:xfrm>
            <a:off x="669953" y="3708350"/>
            <a:ext cx="3108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30201" y="3736925"/>
            <a:ext cx="5266408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ユーザーが入力した判断は最小限（「Bで」「1」など一言の選択のみ）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73001" y="4254401"/>
            <a:ext cx="304800" cy="304800"/>
          </a:xfrm>
          <a:prstGeom prst="roundRect">
            <a:avLst>
              <a:gd name="adj" fmla="val 300000"/>
            </a:avLst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6" name="Text 24"/>
          <p:cNvSpPr/>
          <p:nvPr/>
        </p:nvSpPr>
        <p:spPr>
          <a:xfrm>
            <a:off x="669953" y="4254401"/>
            <a:ext cx="310896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30201" y="4282976"/>
            <a:ext cx="4846972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TypeScript・Reactプロジェクト全般に応用可能なワークフロー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8088532" y="4787801"/>
            <a:ext cx="71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13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50750"/>
          </a:xfrm>
          <a:prstGeom prst="rect">
            <a:avLst/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673001" y="228600"/>
            <a:ext cx="796671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これからのエンジニアの仕事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673001" y="685800"/>
            <a:ext cx="7810500" cy="12650"/>
          </a:xfrm>
          <a:prstGeom prst="rect">
            <a:avLst/>
          </a:prstGeom>
          <a:solidFill>
            <a:srgbClr val="D0D0D0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5" name="Shape 3"/>
          <p:cNvSpPr/>
          <p:nvPr/>
        </p:nvSpPr>
        <p:spPr>
          <a:xfrm>
            <a:off x="673001" y="933450"/>
            <a:ext cx="2457450" cy="0"/>
          </a:xfrm>
          <a:prstGeom prst="line">
            <a:avLst/>
          </a:prstGeom>
          <a:noFill/>
          <a:ln w="38100">
            <a:solidFill>
              <a:srgbClr val="1B4F7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125688" y="914400"/>
            <a:ext cx="0" cy="3324225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73001" y="4233863"/>
            <a:ext cx="245745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77763" y="914400"/>
            <a:ext cx="0" cy="3324225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673126" y="1130201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1B4F7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10" name="Text 8"/>
          <p:cNvSpPr/>
          <p:nvPr/>
        </p:nvSpPr>
        <p:spPr>
          <a:xfrm>
            <a:off x="1668554" y="1130201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813590" y="1663601"/>
            <a:ext cx="2176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人間がやること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60227" y="2069902"/>
            <a:ext cx="2124658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要件の優先度を決める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0227" y="2415183"/>
            <a:ext cx="2124658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設計方針を選ぶ（A/B）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60227" y="2760464"/>
            <a:ext cx="2124658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レビュー結果を承認する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314700" y="933450"/>
            <a:ext cx="2457450" cy="0"/>
          </a:xfrm>
          <a:prstGeom prst="line">
            <a:avLst/>
          </a:prstGeom>
          <a:noFill/>
          <a:ln w="38100">
            <a:solidFill>
              <a:srgbClr val="2E86C1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767388" y="914400"/>
            <a:ext cx="0" cy="3324225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14700" y="4233863"/>
            <a:ext cx="2457450" cy="0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319463" y="914400"/>
            <a:ext cx="0" cy="3324225"/>
          </a:xfrm>
          <a:prstGeom prst="line">
            <a:avLst/>
          </a:prstGeom>
          <a:noFill/>
          <a:ln w="9525">
            <a:solidFill>
              <a:srgbClr val="D0D0D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14825" y="1130201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2E86C1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0" name="Text 18"/>
          <p:cNvSpPr/>
          <p:nvPr/>
        </p:nvSpPr>
        <p:spPr>
          <a:xfrm>
            <a:off x="4310253" y="1130201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455289" y="1663601"/>
            <a:ext cx="21762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AIツールがやること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3501926" y="2069902"/>
            <a:ext cx="2124658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仕様書の構造化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3501926" y="2415183"/>
            <a:ext cx="2124658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コード生成と修正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501926" y="2760464"/>
            <a:ext cx="2124658" cy="48756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コミット・PR・リリースノート作成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956250" y="933450"/>
            <a:ext cx="2565350" cy="0"/>
          </a:xfrm>
          <a:prstGeom prst="line">
            <a:avLst/>
          </a:prstGeom>
          <a:noFill/>
          <a:ln w="38100">
            <a:solidFill>
              <a:srgbClr val="E67E22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8512076" y="914400"/>
            <a:ext cx="0" cy="333375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56250" y="4238625"/>
            <a:ext cx="2565350" cy="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965775" y="914400"/>
            <a:ext cx="0" cy="3333750"/>
          </a:xfrm>
          <a:prstGeom prst="line">
            <a:avLst/>
          </a:prstGeom>
          <a:noFill/>
          <a:ln w="19050">
            <a:solidFill>
              <a:srgbClr val="E67E22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010251" y="1130201"/>
            <a:ext cx="457200" cy="457200"/>
          </a:xfrm>
          <a:prstGeom prst="roundRect">
            <a:avLst>
              <a:gd name="adj" fmla="val 200000"/>
            </a:avLst>
          </a:prstGeom>
          <a:solidFill>
            <a:srgbClr val="E67E22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0" name="Text 28"/>
          <p:cNvSpPr/>
          <p:nvPr/>
        </p:nvSpPr>
        <p:spPr>
          <a:xfrm>
            <a:off x="7005679" y="1130201"/>
            <a:ext cx="466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36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</a:t>
            </a:r>
            <a:endParaRPr lang="en-US" sz="1600" dirty="0"/>
          </a:p>
        </p:txBody>
      </p:sp>
      <p:sp>
        <p:nvSpPr>
          <p:cNvPr id="31" name="Text 29"/>
          <p:cNvSpPr/>
          <p:nvPr/>
        </p:nvSpPr>
        <p:spPr>
          <a:xfrm>
            <a:off x="6105476" y="1663601"/>
            <a:ext cx="2266899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これからの姿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153001" y="2069902"/>
            <a:ext cx="2215286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「Bで」「1」の一言判断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153001" y="2415183"/>
            <a:ext cx="2215286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spcAft>
                <a:spcPts val="800"/>
              </a:spcAft>
              <a:buNone/>
            </a:pPr>
            <a:r>
              <a:rPr lang="en-US" sz="12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その精度を上げることが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6153001" y="2760464"/>
            <a:ext cx="2215286" cy="2437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200" b="1" dirty="0">
                <a:solidFill>
                  <a:srgbClr val="1B4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エンジニアの仕事になる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94896" y="4343400"/>
            <a:ext cx="7966710" cy="2095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ご視聴ありがとうございました  |  リポジトリは概要欄に  |  @masayan_tech_ai_mcp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8088532" y="4787801"/>
            <a:ext cx="712419" cy="1333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900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Anthropic公式ツールだけで作るChrome拡張機能開発ワークフロー</dc:title>
  <dc:subject>PptxGenJS Presentation</dc:subject>
  <dc:creator>@masayan_tech_ai_mcp</dc:creator>
  <cp:lastModifiedBy>@masayan_tech_ai_mcp</cp:lastModifiedBy>
  <cp:revision>1</cp:revision>
  <dcterms:created xsi:type="dcterms:W3CDTF">2026-04-04T11:27:16Z</dcterms:created>
  <dcterms:modified xsi:type="dcterms:W3CDTF">2026-04-04T11:27:16Z</dcterms:modified>
</cp:coreProperties>
</file>