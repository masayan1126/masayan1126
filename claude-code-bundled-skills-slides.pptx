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7" r:id="rId48"/>
    <p:sldId id="275" r:id="rId21"/>
    <p:sldId id="276" r:id="rId22"/>
    <p:sldId id="277" r:id="rId23"/>
    <p:sldId id="278" r:id="rId24"/>
    <p:sldId id="286" r:id="rId37"/>
    <p:sldId id="279" r:id="rId25"/>
    <p:sldId id="280" r:id="rId26"/>
    <p:sldId id="282" r:id="rId33"/>
    <p:sldId id="283" r:id="rId34"/>
    <p:sldId id="292" r:id="rId43"/>
    <p:sldId id="296" r:id="rId47"/>
    <p:sldId id="288" r:id="rId39"/>
    <p:sldId id="289" r:id="rId40"/>
    <p:sldId id="290" r:id="rId41"/>
    <p:sldId id="293" r:id="rId44"/>
    <p:sldId id="295" r:id="rId46"/>
    <p:sldId id="299" r:id="rId50"/>
    <p:sldId id="300" r:id="rId51"/>
    <p:sldId id="301" r:id="rId59"/>
    <p:sldId id="302" r:id="rId60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40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1.xml"/><Relationship Id="rId36" Type="http://schemas.openxmlformats.org/officeDocument/2006/relationships/slide" Target="slides/slide31.xml"/><Relationship Id="rId37" Type="http://schemas.openxmlformats.org/officeDocument/2006/relationships/slide" Target="slides/slide25.xml"/><Relationship Id="rId38" Type="http://schemas.openxmlformats.org/officeDocument/2006/relationships/slide" Target="slides/slide32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1.xml"/><Relationship Id="rId43" Type="http://schemas.openxmlformats.org/officeDocument/2006/relationships/slide" Target="slides/slide30.xml"/><Relationship Id="rId44" Type="http://schemas.openxmlformats.org/officeDocument/2006/relationships/slide" Target="slides/slide35.xml"/><Relationship Id="rId45" Type="http://schemas.openxmlformats.org/officeDocument/2006/relationships/slide" Target="slides/slide31.xml"/><Relationship Id="rId46" Type="http://schemas.openxmlformats.org/officeDocument/2006/relationships/slide" Target="slides/slide36.xml"/><Relationship Id="rId47" Type="http://schemas.openxmlformats.org/officeDocument/2006/relationships/slide" Target="slides/slide31.xml"/><Relationship Id="rId48" Type="http://schemas.openxmlformats.org/officeDocument/2006/relationships/slide" Target="slides/slide20.xml"/><Relationship Id="rId49" Type="http://schemas.openxmlformats.org/officeDocument/2006/relationships/slide" Target="slides/slide37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40.xml"/><Relationship Id="rId53" Type="http://schemas.openxmlformats.org/officeDocument/2006/relationships/slide" Target="slides/slide39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39.xml"/><Relationship Id="rId60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anthropics/skills" TargetMode="External"/><Relationship Id="rId4" Type="http://schemas.openxmlformats.org/officeDocument/2006/relationships/hyperlink" Target="https://github.com/anthropics/claude-code" TargetMode="External"/><Relationship Id="rId5" Type="http://schemas.openxmlformats.org/officeDocument/2006/relationships/hyperlink" Target="https://github.com/anthropics/claude-plugins-official" TargetMode="External"/><Relationship Id="rId6" Type="http://schemas.openxmlformats.org/officeDocument/2006/relationships/hyperlink" Target="https://github.com/anthropics/financial-services-plugins" TargetMode="External"/><Relationship Id="rId7" Type="http://schemas.openxmlformats.org/officeDocument/2006/relationships/hyperlink" Target="https://github.com/anthropics/knowledge-work-plugins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3923" y="1755577"/>
            <a:ext cx="661033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 Code スキル＆プラグイン 完全ガイド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683923" y="2831455"/>
            <a:ext cx="661033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バンドルスキルからマーケットプレイスまで全体像を解説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40260" y="4457700"/>
            <a:ext cx="2063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5C1E9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2026.04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1076623"/>
            <a:ext cx="552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50913" y="1076623"/>
            <a:ext cx="72679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バンドルスキルとは何か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50913" y="1424285"/>
            <a:ext cx="712544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1959" y="1686967"/>
            <a:ext cx="552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50913" y="1686967"/>
            <a:ext cx="72679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5つのバンドルスキル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50913" y="2034629"/>
            <a:ext cx="712544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1959" y="2297311"/>
            <a:ext cx="552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50913" y="2297311"/>
            <a:ext cx="72679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公式マーケットプレイススキル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50913" y="2644973"/>
            <a:ext cx="712544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1959" y="2907655"/>
            <a:ext cx="5525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50913" y="2907655"/>
            <a:ext cx="726795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私のおすすめスキル/プラグイン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1618357"/>
            <a:ext cx="79604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1959" y="2427684"/>
            <a:ext cx="1076623" cy="27384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959" y="2564755"/>
            <a:ext cx="7960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バンドルスキルとは何か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Agent Skills = エージェントの専門知識パック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指示・スクリプト・リソースのフォルダで、汎用エージェントをスペシャリストに変える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71959" y="1600200"/>
            <a:ext cx="7804398" cy="15240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ドメイン固有の専門知識（ワークフロー、コンテキスト、ベストプラクティス）を提供</a:t>
            </a:r>
            <a:endParaRPr lang="en-US" sz="1500" dirty="0"/>
          </a:p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オンデマンドで読み込み — 毎回の会話で同じ指示を繰り返す必要がない</a:t>
            </a:r>
            <a:endParaRPr lang="en-US" sz="1500" dirty="0"/>
          </a:p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20以上のAIツール</a:t>
            </a:r>
            <a:pPr algn="l" indent="0" marL="0">
              <a:lnSpc>
                <a:spcPts val="3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が採用するオープンスタンダード（agentskills.io）</a:t>
            </a:r>
            <a:endParaRPr lang="en-US" sz="1500" dirty="0"/>
          </a:p>
          <a:p>
            <a:pPr algn="l" marL="127000" indent="-127000">
              <a:lnSpc>
                <a:spcPts val="3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 Code / Cursor / Gemini CLI / GitHub Copilot 等で共通利用可能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1959" y="4457700"/>
            <a:ext cx="79604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出典: Anthropic公式ドキュメント / agentskills.io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バンドルされたスキルとユーザー定義のスキル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965150"/>
            <a:ext cx="1905000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76959" y="965150"/>
            <a:ext cx="2895600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76959" y="965150"/>
            <a:ext cx="2953512" cy="45065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バンドルされたスキル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72559" y="965150"/>
            <a:ext cx="3003798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472559" y="965150"/>
            <a:ext cx="3063874" cy="45065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ユーザー定義のスキル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959" y="1422350"/>
            <a:ext cx="1905000" cy="5429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71959" y="1960513"/>
            <a:ext cx="1905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1959" y="1422350"/>
            <a:ext cx="1943100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提供元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6959" y="1960513"/>
            <a:ext cx="289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76959" y="1422350"/>
            <a:ext cx="2953512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Anthropic（本体に同梱）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72559" y="1960513"/>
            <a:ext cx="30037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72559" y="1422350"/>
            <a:ext cx="3063874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自作 / マーケットプレイス製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1959" y="1955750"/>
            <a:ext cx="1905000" cy="5429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1959" y="2493913"/>
            <a:ext cx="1905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1959" y="1955750"/>
            <a:ext cx="1943100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種類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76959" y="2493913"/>
            <a:ext cx="289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576959" y="1955750"/>
            <a:ext cx="2953512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5つのみ（固定）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72559" y="2493913"/>
            <a:ext cx="30037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72559" y="1955750"/>
            <a:ext cx="3063874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無制限（自由に追加可能）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959" y="2489150"/>
            <a:ext cx="1905000" cy="5429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1959" y="3027313"/>
            <a:ext cx="1905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1959" y="2489150"/>
            <a:ext cx="1943100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実装方式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76959" y="3027313"/>
            <a:ext cx="289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576959" y="2489150"/>
            <a:ext cx="2953512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プロンプトベースのプレイブック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72559" y="3027313"/>
            <a:ext cx="30037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72559" y="2489150"/>
            <a:ext cx="3063874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プロンプトベース（SKILL.md）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1959" y="3022550"/>
            <a:ext cx="1905000" cy="54292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71959" y="3560713"/>
            <a:ext cx="1905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1959" y="3022550"/>
            <a:ext cx="1943100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中身の確認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76959" y="3560713"/>
            <a:ext cx="2895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576959" y="3022550"/>
            <a:ext cx="2953512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不可（閲覧・編集できない）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72559" y="3560713"/>
            <a:ext cx="30037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72559" y="3022550"/>
            <a:ext cx="3063874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可（自由に閲覧・編集）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1959" y="3555950"/>
            <a:ext cx="1905000" cy="6349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1959" y="3555950"/>
            <a:ext cx="1943100" cy="5078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特徴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76959" y="3555950"/>
            <a:ext cx="2953512" cy="7364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並列エージェント起動、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コードベース自動適応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72559" y="3555950"/>
            <a:ext cx="3063874" cy="736402"/>
          </a:xfrm>
          <a:prstGeom prst="rect">
            <a:avLst/>
          </a:prstGeom>
          <a:noFill/>
          <a:ln/>
        </p:spPr>
        <p:txBody>
          <a:bodyPr wrap="square" lIns="127000" tIns="139700" rIns="127000" bIns="139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フロントマター制御、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動的コンテキスト注入対応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3種類のスキルを整理する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1015901"/>
            <a:ext cx="1650950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23058" y="1015901"/>
            <a:ext cx="2133600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23058" y="1015901"/>
            <a:ext cx="2176272" cy="403027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Bundled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56658" y="1015901"/>
            <a:ext cx="1968401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56658" y="1015901"/>
            <a:ext cx="2007769" cy="403027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Custom Skills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25059" y="1015901"/>
            <a:ext cx="2051298" cy="4572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25059" y="1015901"/>
            <a:ext cx="2092324" cy="403027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Plugin Skills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1959" y="1473101"/>
            <a:ext cx="1650950" cy="5174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71959" y="1985814"/>
            <a:ext cx="1650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1959" y="1473101"/>
            <a:ext cx="16839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提供元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23058" y="1985814"/>
            <a:ext cx="2133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323058" y="1473101"/>
            <a:ext cx="2176272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Anthropic（同梱）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56658" y="1985814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456658" y="1473101"/>
            <a:ext cx="20077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自分で作成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25059" y="1985814"/>
            <a:ext cx="2051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25059" y="1473101"/>
            <a:ext cx="2092324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公式 / コミュニティ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1959" y="1981200"/>
            <a:ext cx="1650950" cy="5174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71959" y="2493913"/>
            <a:ext cx="1650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1959" y="1981200"/>
            <a:ext cx="16839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配置場所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23058" y="2493913"/>
            <a:ext cx="2133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323058" y="1981200"/>
            <a:ext cx="2176272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内蔵（変更不可）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56658" y="2493913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56658" y="1981200"/>
            <a:ext cx="2007769" cy="4253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~/.claude/skills/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25059" y="2493913"/>
            <a:ext cx="2051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25059" y="1981200"/>
            <a:ext cx="2092324" cy="4253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/plugin install（公式・外部）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959" y="2489150"/>
            <a:ext cx="1650950" cy="5174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959" y="3001863"/>
            <a:ext cx="1650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71959" y="2489150"/>
            <a:ext cx="16839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23058" y="3001863"/>
            <a:ext cx="21336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323058" y="2489150"/>
            <a:ext cx="2176272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5つ（固定）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56658" y="3001863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456658" y="2489150"/>
            <a:ext cx="20077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無制限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25059" y="3001863"/>
            <a:ext cx="20512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25059" y="2489150"/>
            <a:ext cx="2092324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公式+コミュニティ多数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1959" y="2997101"/>
            <a:ext cx="1650950" cy="5079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1959" y="2997101"/>
            <a:ext cx="16839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SKILL.md参照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323058" y="2997101"/>
            <a:ext cx="2176272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不可（内部のみ）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56658" y="2997101"/>
            <a:ext cx="2007769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可（自由に編集）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25059" y="2997101"/>
            <a:ext cx="2092324" cy="48250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可（読み取り）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1618357"/>
            <a:ext cx="79604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1959" y="2427684"/>
            <a:ext cx="1076623" cy="27384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959" y="2564755"/>
            <a:ext cx="7960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5つのバンドルスキル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5つのバンドルスキル一覧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 Code に同梱されたプロンプトベースのプレイブック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422350"/>
            <a:ext cx="1524000" cy="381000"/>
          </a:xfrm>
          <a:prstGeom prst="roundRect">
            <a:avLst>
              <a:gd name="adj" fmla="val 2160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6719" y="1422350"/>
            <a:ext cx="1554480" cy="26342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/simplify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49401" y="1422350"/>
            <a:ext cx="6249495" cy="3110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コード品質を3エージェント並列レビューし自動修正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1959" y="1930301"/>
            <a:ext cx="1524000" cy="381000"/>
          </a:xfrm>
          <a:prstGeom prst="roundRect">
            <a:avLst>
              <a:gd name="adj" fmla="val 2160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6719" y="1930301"/>
            <a:ext cx="1554480" cy="26342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/batch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49401" y="1930301"/>
            <a:ext cx="6249495" cy="3110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大規模並列コード変更を調査から PR作成まで全自動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1959" y="2438400"/>
            <a:ext cx="1524000" cy="381000"/>
          </a:xfrm>
          <a:prstGeom prst="roundRect">
            <a:avLst>
              <a:gd name="adj" fmla="val 216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6719" y="2438400"/>
            <a:ext cx="1554480" cy="26342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/debug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49401" y="2438400"/>
            <a:ext cx="6249495" cy="3110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セッションのデバッグログを有効化しトラブルシュート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1959" y="2946350"/>
            <a:ext cx="1524000" cy="381000"/>
          </a:xfrm>
          <a:prstGeom prst="roundRect">
            <a:avLst>
              <a:gd name="adj" fmla="val 216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6719" y="2946350"/>
            <a:ext cx="1554480" cy="26342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/loop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49401" y="2946350"/>
            <a:ext cx="6249495" cy="3110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プロンプトを指定間隔で繰り返し実行（デフォルト10分）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1959" y="3454301"/>
            <a:ext cx="1524000" cy="381000"/>
          </a:xfrm>
          <a:prstGeom prst="roundRect">
            <a:avLst>
              <a:gd name="adj" fmla="val 21600"/>
            </a:avLst>
          </a:prstGeom>
          <a:solidFill>
            <a:srgbClr val="85C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6719" y="3454301"/>
            <a:ext cx="1554480" cy="263426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/claude-api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49401" y="3454301"/>
            <a:ext cx="6249495" cy="3110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言語別 Claude API リファレンスを自動ロード（8言語対応）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/simplify — 3エージェント並列レビュー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09179"/>
            <a:ext cx="79604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注意力の希薄化を防ぎ、自動修正まで行う専門レビュー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1959" y="1346150"/>
            <a:ext cx="4365575" cy="431750"/>
          </a:xfrm>
          <a:prstGeom prst="roundRect">
            <a:avLst>
              <a:gd name="adj" fmla="val 190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95771" y="1346150"/>
            <a:ext cx="0" cy="431750"/>
          </a:xfrm>
          <a:prstGeom prst="line">
            <a:avLst/>
          </a:prstGeom>
          <a:noFill/>
          <a:ln w="47625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9584" y="1346150"/>
            <a:ext cx="4404309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変更箇所特定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git diff で自動検出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64461" y="1777901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1959" y="1955750"/>
            <a:ext cx="4365575" cy="431750"/>
          </a:xfrm>
          <a:prstGeom prst="roundRect">
            <a:avLst>
              <a:gd name="adj" fmla="val 190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95771" y="1955750"/>
            <a:ext cx="0" cy="43175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9584" y="1955750"/>
            <a:ext cx="4404309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3エージェント並列起動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独立した専門分析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64461" y="2387501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1959" y="2565350"/>
            <a:ext cx="4365575" cy="431750"/>
          </a:xfrm>
          <a:prstGeom prst="roundRect">
            <a:avLst>
              <a:gd name="adj" fmla="val 190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95771" y="2565350"/>
            <a:ext cx="0" cy="431750"/>
          </a:xfrm>
          <a:prstGeom prst="line">
            <a:avLst/>
          </a:prstGeom>
          <a:noFill/>
          <a:ln w="47625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19584" y="2565350"/>
            <a:ext cx="4404309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結果集約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有効な指摘を自動修正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64461" y="2997101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1959" y="3174950"/>
            <a:ext cx="4365575" cy="431750"/>
          </a:xfrm>
          <a:prstGeom prst="roundRect">
            <a:avLst>
              <a:gd name="adj" fmla="val 190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95771" y="3174950"/>
            <a:ext cx="0" cy="43175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9584" y="3174950"/>
            <a:ext cx="4404309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サマリー表示</a:t>
            </a:r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修正内容を報告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34000" y="1346150"/>
            <a:ext cx="3142357" cy="749201"/>
          </a:xfrm>
          <a:prstGeom prst="roundRect">
            <a:avLst>
              <a:gd name="adj" fmla="val 10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334000" y="1365200"/>
            <a:ext cx="3142357" cy="0"/>
          </a:xfrm>
          <a:prstGeom prst="line">
            <a:avLst/>
          </a:prstGeom>
          <a:noFill/>
          <a:ln w="381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34000" y="1384250"/>
            <a:ext cx="3205204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コード再利用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34000" y="1815852"/>
            <a:ext cx="3205204" cy="200025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重複ロジックの検出、共有ロジック抽出の提案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34000" y="2184350"/>
            <a:ext cx="3142357" cy="749201"/>
          </a:xfrm>
          <a:prstGeom prst="roundRect">
            <a:avLst>
              <a:gd name="adj" fmla="val 10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334000" y="2203400"/>
            <a:ext cx="3142357" cy="0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334000" y="2222450"/>
            <a:ext cx="3205204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コード品質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34000" y="2654052"/>
            <a:ext cx="3205204" cy="200025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構造改善、不要なネスト・過剰な抽象化の検出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34000" y="3022550"/>
            <a:ext cx="3142357" cy="749201"/>
          </a:xfrm>
          <a:prstGeom prst="roundRect">
            <a:avLst>
              <a:gd name="adj" fmla="val 10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334000" y="3041600"/>
            <a:ext cx="3142357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334000" y="3060650"/>
            <a:ext cx="3205204" cy="431602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効率性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34000" y="3492252"/>
            <a:ext cx="3205204" cy="200025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アルゴリズムとパフォーマンス最適化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1959" y="3936950"/>
            <a:ext cx="79604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PR前の最終チェックとして活用（実装→lint→/simplify のパイプライン）</a:t>
            </a:r>
            <a:pPr algn="l" indent="0" marL="0">
              <a:buNone/>
            </a:pPr>
            <a:pPr algn="l" indent="0" marL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/batch — 大規模並列コード変更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09179"/>
            <a:ext cx="79604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1コマンド + 承認で、調査からPR作成まで全自動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1959" y="1346150"/>
            <a:ext cx="1396901" cy="762000"/>
          </a:xfrm>
          <a:prstGeom prst="roundRect">
            <a:avLst>
              <a:gd name="adj" fmla="val 1080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7990" y="1346150"/>
            <a:ext cx="1424839" cy="3365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調査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7990" y="1682651"/>
            <a:ext cx="1424839" cy="2222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コードベース分析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93723" y="1625501"/>
            <a:ext cx="181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1346150"/>
            <a:ext cx="1396901" cy="762000"/>
          </a:xfrm>
          <a:prstGeom prst="roundRect">
            <a:avLst>
              <a:gd name="adj" fmla="val 108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72031" y="1346150"/>
            <a:ext cx="1424839" cy="3365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分解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72031" y="1682651"/>
            <a:ext cx="1424839" cy="39365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5~30ユニットに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自動分割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19224" y="1625501"/>
            <a:ext cx="181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11501" y="1346150"/>
            <a:ext cx="1396901" cy="762000"/>
          </a:xfrm>
          <a:prstGeom prst="roundRect">
            <a:avLst>
              <a:gd name="adj" fmla="val 108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97532" y="1346150"/>
            <a:ext cx="1424839" cy="3365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承認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97532" y="1682651"/>
            <a:ext cx="1424839" cy="39365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EF5E7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ユーザーが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EF5E7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計画を確認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4873" y="1625501"/>
            <a:ext cx="181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7150" y="1346150"/>
            <a:ext cx="1396901" cy="762000"/>
          </a:xfrm>
          <a:prstGeom prst="roundRect">
            <a:avLst>
              <a:gd name="adj" fmla="val 1080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23181" y="1346150"/>
            <a:ext cx="1424839" cy="3365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並列実行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23181" y="1682651"/>
            <a:ext cx="1424839" cy="39365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git worktreeで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独立作業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70523" y="1625501"/>
            <a:ext cx="1812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62800" y="1346150"/>
            <a:ext cx="1313557" cy="762000"/>
          </a:xfrm>
          <a:prstGeom prst="roundRect">
            <a:avLst>
              <a:gd name="adj" fmla="val 1080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49664" y="1346150"/>
            <a:ext cx="1339828" cy="3365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5. テスト&amp;PR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49664" y="1682651"/>
            <a:ext cx="1339828" cy="39365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自動テスト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+PR作成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1959" y="2362200"/>
            <a:ext cx="37565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手動の場合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1959" y="2743200"/>
            <a:ext cx="3701951" cy="1034951"/>
          </a:xfrm>
          <a:prstGeom prst="roundRect">
            <a:avLst>
              <a:gd name="adj" fmla="val 7952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1484" y="2752725"/>
            <a:ext cx="3756559" cy="882551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影響ファイル手動特定 → 作業の論理分割 →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ブランチ作成 → 複数セッション逐次実行 →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テスト → PR作成 ...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8ステップ以上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87801" y="2362200"/>
            <a:ext cx="37623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/batch の場合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87801" y="2743200"/>
            <a:ext cx="3707606" cy="1034951"/>
          </a:xfrm>
          <a:prstGeom prst="roundRect">
            <a:avLst>
              <a:gd name="adj" fmla="val 7952"/>
            </a:avLst>
          </a:prstGeom>
          <a:solidFill>
            <a:srgbClr val="EBF5FB"/>
          </a:solidFill>
          <a:ln w="9525">
            <a:solidFill>
              <a:srgbClr val="AED6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0440" y="2752725"/>
            <a:ext cx="3762327" cy="698302"/>
          </a:xfrm>
          <a:prstGeom prst="rect">
            <a:avLst/>
          </a:prstGeom>
          <a:noFill/>
          <a:ln/>
        </p:spPr>
        <p:txBody>
          <a:bodyPr wrap="square" lIns="127000" tIns="177800" rIns="127000" bIns="17780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1コマンド + 承認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60440" y="3451027"/>
            <a:ext cx="3762327" cy="209550"/>
          </a:xfrm>
          <a:prstGeom prst="rect">
            <a:avLst/>
          </a:prstGeom>
          <a:noFill/>
          <a:ln/>
        </p:spPr>
        <p:txBody>
          <a:bodyPr wrap="square" lIns="127000" tIns="0" rIns="12700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86C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全工程を自動オーケストレーション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1959" y="3936950"/>
            <a:ext cx="79604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前提条件: git リポジトリが必須（worktree を使用するため）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/debug, /loop, /claude-api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1076623"/>
            <a:ext cx="2489448" cy="3174950"/>
          </a:xfrm>
          <a:prstGeom prst="roundRect">
            <a:avLst>
              <a:gd name="adj" fmla="val 33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4359" y="1229023"/>
            <a:ext cx="2184648" cy="355550"/>
          </a:xfrm>
          <a:prstGeom prst="roundRect">
            <a:avLst>
              <a:gd name="adj" fmla="val 1428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2513" y="1229023"/>
            <a:ext cx="2228341" cy="25077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/debug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1959" y="1076623"/>
            <a:ext cx="2539237" cy="917525"/>
          </a:xfrm>
          <a:prstGeom prst="rect">
            <a:avLst/>
          </a:prstGeom>
          <a:noFill/>
          <a:ln/>
        </p:spPr>
        <p:txBody>
          <a:bodyPr wrap="square" lIns="177800" tIns="660400" rIns="1778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デバッグログのトグル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1959" y="1994148"/>
            <a:ext cx="2489448" cy="138454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デフォルトOFF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セッション中にトグル可能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~/.claude/debug/ に出力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Hooks のトラブルシュートにも有用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26011" y="1076623"/>
            <a:ext cx="2489448" cy="3174950"/>
          </a:xfrm>
          <a:prstGeom prst="roundRect">
            <a:avLst>
              <a:gd name="adj" fmla="val 330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8411" y="1229023"/>
            <a:ext cx="2184648" cy="355550"/>
          </a:xfrm>
          <a:prstGeom prst="roundRect">
            <a:avLst>
              <a:gd name="adj" fmla="val 1428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56564" y="1229023"/>
            <a:ext cx="2228341" cy="25077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/loop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6011" y="1076623"/>
            <a:ext cx="2539237" cy="917525"/>
          </a:xfrm>
          <a:prstGeom prst="rect">
            <a:avLst/>
          </a:prstGeom>
          <a:noFill/>
          <a:ln/>
        </p:spPr>
        <p:txBody>
          <a:bodyPr wrap="square" lIns="177800" tIns="660400" rIns="1778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定期プロンプト実行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26011" y="1994148"/>
            <a:ext cx="2489448" cy="138454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デフォルト10分間隔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 / m / h / d 単位対応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セッション終了で消滅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72時間有効期限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最大50タスク/セッション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0063" y="1076623"/>
            <a:ext cx="2496294" cy="3174950"/>
          </a:xfrm>
          <a:prstGeom prst="roundRect">
            <a:avLst>
              <a:gd name="adj" fmla="val 329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32463" y="1229023"/>
            <a:ext cx="2191494" cy="355550"/>
          </a:xfrm>
          <a:prstGeom prst="roundRect">
            <a:avLst>
              <a:gd name="adj" fmla="val 14288"/>
            </a:avLst>
          </a:prstGeom>
          <a:solidFill>
            <a:srgbClr val="85C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10548" y="1229023"/>
            <a:ext cx="2235324" cy="250775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/claude-api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0063" y="1076623"/>
            <a:ext cx="2546220" cy="917525"/>
          </a:xfrm>
          <a:prstGeom prst="rect">
            <a:avLst/>
          </a:prstGeom>
          <a:noFill/>
          <a:ln/>
        </p:spPr>
        <p:txBody>
          <a:bodyPr wrap="square" lIns="177800" tIns="660400" rIns="17780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APIリファレンスローダー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80063" y="1994148"/>
            <a:ext cx="2496294" cy="1636068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8言語対応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ツール使用、ストリーミング等カバー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 インポートで自動起動</a:t>
            </a:r>
            <a:endParaRPr lang="en-US" sz="1100" dirty="0"/>
          </a:p>
          <a:p>
            <a:pPr algn="l" marL="190500" indent="-190500">
              <a:lnSpc>
                <a:spcPts val="1980"/>
              </a:lnSpc>
              <a:buSzPct val="100000"/>
              <a:buChar char="•"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Agent SDK も対応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通常プロンプト vs /simplify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939701"/>
            <a:ext cx="1777901" cy="431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50009" y="939701"/>
            <a:ext cx="2793950" cy="431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50009" y="939701"/>
            <a:ext cx="2849829" cy="4316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通常のプロンプト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43959" y="939701"/>
            <a:ext cx="3232398" cy="431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43959" y="939701"/>
            <a:ext cx="3297046" cy="3744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/simplify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1959" y="1371600"/>
            <a:ext cx="1777901" cy="4920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71959" y="1858863"/>
            <a:ext cx="1777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1959" y="1371600"/>
            <a:ext cx="181345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レビュー視点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009" y="1858863"/>
            <a:ext cx="2793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50009" y="1371600"/>
            <a:ext cx="284982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1コンテキストで全方位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43959" y="1858863"/>
            <a:ext cx="3232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43959" y="1371600"/>
            <a:ext cx="3297046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3専門エージェントが独立並列分析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1959" y="1854101"/>
            <a:ext cx="1777901" cy="4920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1959" y="2341364"/>
            <a:ext cx="1777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1959" y="1854101"/>
            <a:ext cx="181345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対象ファイル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50009" y="2341364"/>
            <a:ext cx="2793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450009" y="1854101"/>
            <a:ext cx="284982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手動で指定が必要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43959" y="2341364"/>
            <a:ext cx="3232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243959" y="1854101"/>
            <a:ext cx="3297046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git diff で自動検出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1959" y="2336750"/>
            <a:ext cx="1777901" cy="4920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1959" y="2824014"/>
            <a:ext cx="1777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71959" y="2336750"/>
            <a:ext cx="181345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注意力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50009" y="2824014"/>
            <a:ext cx="2793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450009" y="2336750"/>
            <a:ext cx="284982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注意力の希薄化が発生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43959" y="2824014"/>
            <a:ext cx="3232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243959" y="2336750"/>
            <a:ext cx="3297046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各エージェントが専門領域に集中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959" y="2819400"/>
            <a:ext cx="1777901" cy="4920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71959" y="3306663"/>
            <a:ext cx="1777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71959" y="2819400"/>
            <a:ext cx="181345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修正の適用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50009" y="3306663"/>
            <a:ext cx="2793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450009" y="2819400"/>
            <a:ext cx="284982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提案のみ、手動で修正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43959" y="3306663"/>
            <a:ext cx="3232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43959" y="2819400"/>
            <a:ext cx="3297046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有効な指摘は自動修正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1959" y="3301901"/>
            <a:ext cx="1777901" cy="4825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1959" y="3301901"/>
            <a:ext cx="181345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再現性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50009" y="3301901"/>
            <a:ext cx="2849829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プロンプト次第でばらつく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43959" y="3301901"/>
            <a:ext cx="3297046" cy="463451"/>
          </a:xfrm>
          <a:prstGeom prst="rect">
            <a:avLst/>
          </a:prstGeom>
          <a:noFill/>
          <a:ln/>
        </p:spPr>
        <p:txBody>
          <a:bodyPr wrap="square" lIns="101600" tIns="127000" rIns="101600" bIns="1270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設計済みプレイブックで一貫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スケジューリング3方式の使い分け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939701"/>
            <a:ext cx="2031950" cy="431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04058" y="939701"/>
            <a:ext cx="1968401" cy="431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04058" y="939701"/>
            <a:ext cx="2007769" cy="3744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72459" y="939701"/>
            <a:ext cx="1841450" cy="431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72459" y="939701"/>
            <a:ext cx="1878279" cy="3744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4058" y="939701"/>
            <a:ext cx="1962299" cy="43175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14058" y="939701"/>
            <a:ext cx="2001545" cy="3744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/loop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1959" y="1371600"/>
            <a:ext cx="2031950" cy="4412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71959" y="1808113"/>
            <a:ext cx="2031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71959" y="1371600"/>
            <a:ext cx="207258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実行場所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04058" y="1808113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704058" y="1371600"/>
            <a:ext cx="200776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 クラウド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459" y="1808113"/>
            <a:ext cx="18414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72459" y="1371600"/>
            <a:ext cx="187827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ローカルマシン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14058" y="1808113"/>
            <a:ext cx="19622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14058" y="1371600"/>
            <a:ext cx="2001545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ローカルマシン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1959" y="1803350"/>
            <a:ext cx="2031950" cy="4412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71959" y="2239863"/>
            <a:ext cx="2031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1959" y="1803350"/>
            <a:ext cx="207258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マシン起動必要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04058" y="2239863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704058" y="1803350"/>
            <a:ext cx="2007769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72459" y="2239863"/>
            <a:ext cx="18414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672459" y="1803350"/>
            <a:ext cx="1878279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14058" y="2239863"/>
            <a:ext cx="19622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514058" y="1803350"/>
            <a:ext cx="2001545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1959" y="2235101"/>
            <a:ext cx="2031950" cy="4412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71959" y="2671614"/>
            <a:ext cx="2031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71959" y="2235101"/>
            <a:ext cx="207258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セッション必要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04058" y="2671614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704058" y="2235101"/>
            <a:ext cx="2007769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72459" y="2671614"/>
            <a:ext cx="18414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72459" y="2235101"/>
            <a:ext cx="1878279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14058" y="2671614"/>
            <a:ext cx="19622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14058" y="2235101"/>
            <a:ext cx="2001545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1959" y="2667000"/>
            <a:ext cx="2031950" cy="4412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71959" y="3103513"/>
            <a:ext cx="2031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71959" y="2667000"/>
            <a:ext cx="207258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再起動後も持続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04058" y="3103513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2704058" y="2667000"/>
            <a:ext cx="2007769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72459" y="3103513"/>
            <a:ext cx="18414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672459" y="2667000"/>
            <a:ext cx="1878279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14058" y="3103513"/>
            <a:ext cx="19622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514058" y="2667000"/>
            <a:ext cx="2001545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1959" y="3098750"/>
            <a:ext cx="2031950" cy="441275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71959" y="3535263"/>
            <a:ext cx="2031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71959" y="3098750"/>
            <a:ext cx="207258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ローカルファイル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04058" y="3535263"/>
            <a:ext cx="19684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704058" y="3098750"/>
            <a:ext cx="200776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No（新規clone）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72459" y="3535263"/>
            <a:ext cx="18414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672459" y="3098750"/>
            <a:ext cx="1878279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514058" y="3535263"/>
            <a:ext cx="19622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6514058" y="3098750"/>
            <a:ext cx="2001545" cy="35540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1959" y="3530501"/>
            <a:ext cx="2031950" cy="4317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71959" y="3530501"/>
            <a:ext cx="207258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最小間隔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704058" y="3530501"/>
            <a:ext cx="200776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1時間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72459" y="3530501"/>
            <a:ext cx="1878279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1分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514058" y="3530501"/>
            <a:ext cx="2001545" cy="41255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1分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注意点とコスト意識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便利だが、トークン消費とリスクを理解して使う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422350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879" y="1422350"/>
            <a:ext cx="518109" cy="368201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500" y="1422350"/>
            <a:ext cx="7285714" cy="374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/simplify — 3並列起動で初回コストは増えるが、コード簡潔化で以降のトークン消費が抑えられる場合も</a:t>
            </a:r>
            <a:pPr algn="l" indent="0" marL="0">
              <a:buNone/>
            </a:pPr>
            <a:pPr algn="l" indent="0" marL="0">
              <a:buNone/>
            </a:pPr>
            <a:pPr algn="l" indent="0" marL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1959" y="2057400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6879" y="2057400"/>
            <a:ext cx="518109" cy="368201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33500" y="2057400"/>
            <a:ext cx="7285714" cy="374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/batch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git リポジトリ必須。PR数が爆発する可能性があるため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計画を必ず確認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1959" y="2692301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6879" y="2692301"/>
            <a:ext cx="518109" cy="368201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33500" y="2692301"/>
            <a:ext cx="7285714" cy="374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/loop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セッション依存（終了で消滅）、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72時間有効期限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。永続化には Cloud を検討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1959" y="3327350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6879" y="3327350"/>
            <a:ext cx="518109" cy="368201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3327350"/>
            <a:ext cx="7285714" cy="374600"/>
          </a:xfrm>
          <a:prstGeom prst="rect">
            <a:avLst/>
          </a:prstGeom>
          <a:noFill/>
          <a:ln/>
        </p:spPr>
        <p:txBody>
          <a:bodyPr wrap="square" lIns="0" tIns="12700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共通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バンドルスキルの内部 SKILL.md は</a:t>
            </a:r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閲覧・編集不可</a:t>
            </a:r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（カスタムスキルとの違い）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1618357"/>
            <a:ext cx="79604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1959" y="2427684"/>
            <a:ext cx="1076623" cy="27384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959" y="2564755"/>
            <a:ext cx="7960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公式マーケットプレイススキル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Document Skills（4スキル）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ドキュメント操作に特化した公式プラグイン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9058" y="1447800"/>
            <a:ext cx="1587401" cy="330101"/>
          </a:xfrm>
          <a:prstGeom prst="roundRect">
            <a:avLst>
              <a:gd name="adj" fmla="val 15389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3184" y="1447800"/>
            <a:ext cx="1619149" cy="23812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1959" y="1879550"/>
            <a:ext cx="1841450" cy="2158901"/>
          </a:xfrm>
          <a:prstGeom prst="roundRect">
            <a:avLst>
              <a:gd name="adj" fmla="val 446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1959" y="1879550"/>
            <a:ext cx="1841450" cy="111680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プレゼン作成/編集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レイアウト管理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スピーカーノート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HTML→PPTX変換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93950" y="1447800"/>
            <a:ext cx="1587401" cy="330101"/>
          </a:xfrm>
          <a:prstGeom prst="roundRect">
            <a:avLst>
              <a:gd name="adj" fmla="val 15389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78076" y="1447800"/>
            <a:ext cx="1619149" cy="23812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xlsx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67000" y="1879550"/>
            <a:ext cx="1841450" cy="2158901"/>
          </a:xfrm>
          <a:prstGeom prst="roundRect">
            <a:avLst>
              <a:gd name="adj" fmla="val 446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667000" y="1879550"/>
            <a:ext cx="1841450" cy="1357908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スプレッドシート作成/編集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数式・書式対応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データ分析・可視化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CSV/TSV対応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87801" y="1447800"/>
            <a:ext cx="1587401" cy="330101"/>
          </a:xfrm>
          <a:prstGeom prst="roundRect">
            <a:avLst>
              <a:gd name="adj" fmla="val 15389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1927" y="1447800"/>
            <a:ext cx="1619149" cy="23812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0850" y="1879550"/>
            <a:ext cx="1841450" cy="2158901"/>
          </a:xfrm>
          <a:prstGeom prst="roundRect">
            <a:avLst>
              <a:gd name="adj" fmla="val 446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60850" y="1879550"/>
            <a:ext cx="1841450" cy="111680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テキスト/テーブル抽出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新規PDF作成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結合/分割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フォーム入力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81800" y="1447800"/>
            <a:ext cx="1567607" cy="330101"/>
          </a:xfrm>
          <a:prstGeom prst="roundRect">
            <a:avLst>
              <a:gd name="adj" fmla="val 15389"/>
            </a:avLst>
          </a:prstGeom>
          <a:solidFill>
            <a:srgbClr val="85C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66124" y="1447800"/>
            <a:ext cx="1598959" cy="238125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54701" y="1879550"/>
            <a:ext cx="1821656" cy="2158901"/>
          </a:xfrm>
          <a:prstGeom prst="roundRect">
            <a:avLst>
              <a:gd name="adj" fmla="val 4518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54701" y="1879550"/>
            <a:ext cx="1821656" cy="111680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文書作成/編集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変更履歴・コメント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書式保持</a:t>
            </a:r>
            <a:endParaRPr lang="en-US" sz="1000" dirty="0"/>
          </a:p>
          <a:p>
            <a:pPr algn="l" marL="152400" indent="-152400">
              <a:lnSpc>
                <a:spcPts val="1900"/>
              </a:lnSpc>
              <a:buSzPct val="100000"/>
              <a:buChar char="•"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テキスト抽出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1959" y="4368701"/>
            <a:ext cx="79604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インストール: /plugin marketplace add anthropics/skills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使用例: /xlsx でスプレッドシート作成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939701"/>
            <a:ext cx="7804398" cy="457200"/>
          </a:xfrm>
          <a:prstGeom prst="roundRect">
            <a:avLst>
              <a:gd name="adj" fmla="val 18000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959" y="939701"/>
            <a:ext cx="7960486" cy="412552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/xlsx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商品データからスプレッドシートを作成して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350" y="1600200"/>
            <a:ext cx="7061150" cy="304800"/>
          </a:xfrm>
          <a:prstGeom prst="roundRect">
            <a:avLst>
              <a:gd name="adj" fmla="val 16667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5001" y="1600200"/>
            <a:ext cx="647599" cy="1967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No.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66241" y="1600200"/>
            <a:ext cx="1036219" cy="2348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項目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74522" y="1600200"/>
            <a:ext cx="906729" cy="2348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数量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88032" y="1600200"/>
            <a:ext cx="1036219" cy="2348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単価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28490" y="1600200"/>
            <a:ext cx="1165860" cy="2348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金額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01489" y="1600200"/>
            <a:ext cx="2020824" cy="234851"/>
          </a:xfrm>
          <a:prstGeom prst="rect">
            <a:avLst/>
          </a:prstGeom>
          <a:noFill/>
          <a:ln/>
        </p:spPr>
        <p:txBody>
          <a:bodyPr wrap="square" lIns="0" tIns="635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= 数量 x 単価（数式）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1350" y="1905000"/>
            <a:ext cx="7061150" cy="2286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35001" y="1905000"/>
            <a:ext cx="64759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66241" y="1905000"/>
            <a:ext cx="1036219" cy="2095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商品A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74522" y="1905000"/>
            <a:ext cx="90672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88032" y="1905000"/>
            <a:ext cx="103621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1,500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28490" y="19050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15,000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5001" y="2133600"/>
            <a:ext cx="64759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66241" y="2133600"/>
            <a:ext cx="1036219" cy="2095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商品B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74522" y="2133600"/>
            <a:ext cx="90672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88032" y="2133600"/>
            <a:ext cx="103621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28490" y="21336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20,000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1350" y="2362200"/>
            <a:ext cx="7061150" cy="2286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35001" y="2362200"/>
            <a:ext cx="64759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66241" y="2362200"/>
            <a:ext cx="1036219" cy="2095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商品C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74522" y="2362200"/>
            <a:ext cx="90672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88032" y="2362200"/>
            <a:ext cx="103621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3,200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28490" y="23622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16,000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5001" y="2590800"/>
            <a:ext cx="64759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66241" y="2590800"/>
            <a:ext cx="1036219" cy="2095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商品D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74522" y="2590800"/>
            <a:ext cx="90672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88032" y="2590800"/>
            <a:ext cx="103621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8490" y="25908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18,000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41350" y="2819400"/>
            <a:ext cx="7061150" cy="2286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35001" y="2819400"/>
            <a:ext cx="64759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66241" y="2819400"/>
            <a:ext cx="1036219" cy="2095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商品E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74522" y="2819400"/>
            <a:ext cx="90672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88032" y="2819400"/>
            <a:ext cx="1036219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28490" y="28194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18,000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70739" y="3048000"/>
            <a:ext cx="7202373" cy="209550"/>
          </a:xfrm>
          <a:prstGeom prst="rect">
            <a:avLst/>
          </a:prstGeom>
          <a:noFill/>
          <a:ln/>
        </p:spPr>
        <p:txBody>
          <a:bodyPr wrap="square" lIns="0" tIns="3810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... 商品F〜J（計10行）...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41350" y="3332113"/>
            <a:ext cx="7061150" cy="0"/>
          </a:xfrm>
          <a:prstGeom prst="line">
            <a:avLst/>
          </a:prstGeom>
          <a:noFill/>
          <a:ln w="9525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688032" y="3378101"/>
            <a:ext cx="10362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合計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28490" y="3378101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180,600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41350" y="1600200"/>
            <a:ext cx="4972050" cy="2101751"/>
          </a:xfrm>
          <a:prstGeom prst="rect">
            <a:avLst/>
          </a:prstGeom>
          <a:noFill/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71959" y="3936950"/>
            <a:ext cx="79604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金額列は Excel 数式（=C*D）で自動計算。合計行は =SUM() で集計。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1959" y="4136975"/>
            <a:ext cx="7960486" cy="276225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openpyxl でプログラム生成 → 書式・数式付きの .xlsx ファイルを出力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Example Skills（12スキル）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デザイン・開発・コンテンツ制作をカバーする公式プラグイン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71600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デザイン・クリエイティブ（6）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905000"/>
          </a:xfrm>
          <a:prstGeom prst="roundRect">
            <a:avLst>
              <a:gd name="adj" fmla="val 432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720007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frontend-design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本格UI生成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web-artifacts-builder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React+Tailwind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theme-factory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10種プリセットテーマ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canvas-design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ビジュアルアート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algorithmic-art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p5.js生成アート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brand-guidelines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ブランド適用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71600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開発・インフラ（3）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092101"/>
          </a:xfrm>
          <a:prstGeom prst="roundRect">
            <a:avLst>
              <a:gd name="adj" fmla="val 753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923479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mcp-builder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MCPサーバー構築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skill-creator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スキル作成・評価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webapp-testing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Playwrightテスト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0850" y="2920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コンテンツ・コミュニケーション（3）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0850" y="3251150"/>
            <a:ext cx="3815507" cy="1092101"/>
          </a:xfrm>
          <a:prstGeom prst="roundRect">
            <a:avLst>
              <a:gd name="adj" fmla="val 753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60850" y="3251150"/>
            <a:ext cx="3815507" cy="923479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doc-coauthoring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文書共同執筆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internal-comms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社内コミュニケーション</a:t>
            </a:r>
            <a:endParaRPr lang="en-US" sz="1100" dirty="0"/>
          </a:p>
          <a:p>
            <a:pPr algn="l" marL="165100" indent="-165100">
              <a:lnSpc>
                <a:spcPts val="209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slack-gif-creator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90"/>
              </a:lnSpc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— Slack用GIF作成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3936950"/>
            <a:ext cx="3886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合計 </a:t>
            </a:r>
            <a:pPr algn="l" indent="0" marL="0">
              <a:buNone/>
            </a:pPr>
            <a:r>
              <a:rPr lang="en-US" sz="1100" b="1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16スキル</a:t>
            </a:r>
            <a:pPr algn="l" indent="0" marL="0">
              <a:buNone/>
            </a:pPr>
            <a:r>
              <a:rPr lang="en-US" sz="11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（Document 4 + Example 12）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 公式マーケットプレイス 5選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914400"/>
            <a:ext cx="50750" cy="6096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914400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  <a:hlinkClick xmlns:r="http://schemas.openxmlformats.org/officeDocument/2006/relationships" r:id="rId3"/>
              </a:rPr>
              <a:t>anthropics/skills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50" y="11683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 / Claude.ai / API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29000" y="914400"/>
            <a:ext cx="514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何を作るか — ドキュメント・デザイン・開発の専門スキル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1168301"/>
            <a:ext cx="514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pptx, xlsx, pdf, docx, frontend-design, mcp-builder 等 </a:t>
            </a:r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17スキル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1959" y="1554063"/>
            <a:ext cx="7804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1959" y="1625501"/>
            <a:ext cx="50750" cy="6096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1625501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Noto Sans JP" pitchFamily="34" charset="0"/>
                <a:ea typeface="Arial" pitchFamily="34" charset="-122"/>
                <a:cs typeface="Arial" pitchFamily="34" charset="-120"/>
                <a:hlinkClick xmlns:r="http://schemas.openxmlformats.org/officeDocument/2006/relationships" r:id="rId4"/>
              </a:rPr>
              <a:t>anthropics/claude-code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750" y="187955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625501"/>
            <a:ext cx="514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どう開発するか — 開発ワークフローの自動化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879550"/>
            <a:ext cx="514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code-review, feature-dev, commit-commands, hookify 等 </a:t>
            </a:r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13プラグイン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1959" y="2265313"/>
            <a:ext cx="7804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1959" y="2336750"/>
            <a:ext cx="50750" cy="60960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2750" y="2336750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Noto Sans JP" pitchFamily="34" charset="0"/>
                <a:ea typeface="Arial" pitchFamily="34" charset="-122"/>
                <a:cs typeface="Arial" pitchFamily="34" charset="-120"/>
                <a:hlinkClick xmlns:r="http://schemas.openxmlformats.org/officeDocument/2006/relationships" r:id="rId5"/>
              </a:rPr>
              <a:t>claude-plugins-official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750" y="259080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336750"/>
            <a:ext cx="514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何と繋げるか — 外部ツール・サービス連携の総合カタログ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2590800"/>
            <a:ext cx="514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LSP 12言語, Slack, GitHub, Linear, Supabase 等 </a:t>
            </a:r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100以上のプラグイン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1959" y="2976563"/>
            <a:ext cx="7804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1959" y="3048000"/>
            <a:ext cx="50750" cy="609600"/>
          </a:xfrm>
          <a:prstGeom prst="rect">
            <a:avLst/>
          </a:prstGeom>
          <a:solidFill>
            <a:srgbClr val="85C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2750" y="3048000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  <a:hlinkClick xmlns:r="http://schemas.openxmlformats.org/officeDocument/2006/relationships" r:id="rId6"/>
              </a:rPr>
              <a:t>financial-services-plugins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750" y="3301901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Cowork / Code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048000"/>
            <a:ext cx="514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金融業界向け — IB・PE・リサーチ・ウェルスマネジメント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301901"/>
            <a:ext cx="514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financial-analysis, equity-research, investment-banking 等 </a:t>
            </a:r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7カテゴリ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1959" y="3687663"/>
            <a:ext cx="78043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1959" y="3759101"/>
            <a:ext cx="50750" cy="609600"/>
          </a:xfrm>
          <a:prstGeom prst="rect">
            <a:avLst/>
          </a:prstGeom>
          <a:solidFill>
            <a:srgbClr val="85C1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2750" y="3759101"/>
            <a:ext cx="25906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  <a:hlinkClick xmlns:r="http://schemas.openxmlformats.org/officeDocument/2006/relationships" r:id="rId7"/>
              </a:rPr>
              <a:t>knowledge-work-plugins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2750" y="4013150"/>
            <a:ext cx="25906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Cowork / Code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29000" y="3759101"/>
            <a:ext cx="5148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職種別 — 営業・法務・マーケ・データ分析・カスタマーサポート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29000" y="4013150"/>
            <a:ext cx="5148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sales, legal, data, marketing, productivity 等 </a:t>
            </a:r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39プラグイン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1959" y="4470350"/>
            <a:ext cx="7960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+ コミュニティ（コミュニティプラグインも多数公開中）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228600"/>
            <a:ext cx="7964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4F72"/>
                </a:solidFill>
                <a:latin typeface="Noto Sans JP"/>
              </a:rPr>
              <a:t>2つのリポジトリの関係 — 開発元 vs 配布先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731520"/>
            <a:ext cx="2194560" cy="27432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26080" y="731520"/>
            <a:ext cx="2743200" cy="2743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anthropics/claude-code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731520"/>
            <a:ext cx="2834640" cy="2743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claude-plugins-official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" y="1051560"/>
            <a:ext cx="219456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1051560"/>
            <a:ext cx="2743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0" y="1051560"/>
            <a:ext cx="283464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0789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F72"/>
                </a:solidFill>
                <a:latin typeface="Noto Sans JP"/>
              </a:rPr>
              <a:t>役割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0789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開発元（ソースコード同梱）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1078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配布先（マーケットプレイス）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1344168"/>
            <a:ext cx="219456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344168"/>
            <a:ext cx="27432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0" y="1344168"/>
            <a:ext cx="28346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13716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F72"/>
                </a:solidFill>
                <a:latin typeface="Noto Sans JP"/>
              </a:rPr>
              <a:t>著者表記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371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個人名（Boris, Daisy 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13716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"Anthropic" に統一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1636776"/>
            <a:ext cx="219456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1636776"/>
            <a:ext cx="2743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1636776"/>
            <a:ext cx="283464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16642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F72"/>
                </a:solidFill>
                <a:latin typeface="Noto Sans JP"/>
              </a:rPr>
              <a:t>プラグイン数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16642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59" y="1664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50前後（内部 + 外部 + 随時追加）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" y="1929384"/>
            <a:ext cx="219456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1929384"/>
            <a:ext cx="27432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1929384"/>
            <a:ext cx="283464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195681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F72"/>
                </a:solidFill>
                <a:latin typeface="Noto Sans JP"/>
              </a:rPr>
              <a:t>固有コンテンツ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1956815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claude-opus-4-5-migration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59" y="1956815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LSP×11言語, setup, math等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" y="2221991"/>
            <a:ext cx="219456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0" y="2221991"/>
            <a:ext cx="274320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0" y="2221991"/>
            <a:ext cx="2834640" cy="256032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224942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B4F72"/>
                </a:solidFill>
                <a:latin typeface="Noto Sans JP"/>
              </a:rPr>
              <a:t>命名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224942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ralph-wiggum（開発コードネーム）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59" y="2249423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ralph-loop（公開名）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2651760"/>
            <a:ext cx="7964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72"/>
                </a:solidFill>
                <a:latin typeface="Noto Sans JP"/>
              </a:rPr>
              <a:t>パイプライン: 開発 → 公開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" y="2971800"/>
            <a:ext cx="210312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claude-code/plugins
個人名で開発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3063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Noto Sans JP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2971800"/>
            <a:ext cx="22860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著者統一・名前サニタイズ
バージョン調整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3063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Noto Sans JP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2971800"/>
            <a:ext cx="2606040" cy="4572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claude-plugins-official
/plugin install で配布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3703320"/>
            <a:ext cx="7964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Noto Sans JP"/>
              </a:rPr>
              <a:t>official にしかないもの: LSP 11言語 / claude-code-setup / claude-md-management / math-olympiad / playground 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" y="4069080"/>
            <a:ext cx="7964424" cy="9144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4160520"/>
            <a:ext cx="7964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Noto Sans JP"/>
              </a:rPr>
              <a:t>ralph-wiggum → ralph-loop への改名が象徴的 — 開発コードネームから公開名へ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" y="4370832"/>
            <a:ext cx="79644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Noto Sans JP"/>
              </a:rPr>
              <a:t>github.com/anthropics/claude-code | github.com/anthropics/claude-plugins-official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4727448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Noto Sans JP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インストール方法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939701"/>
            <a:ext cx="7960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Agent Skills（anthropics/skills）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1959" y="1193750"/>
            <a:ext cx="7804398" cy="4572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959" y="1193750"/>
            <a:ext cx="7960486" cy="412552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marketplace add anthropics/skills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pdf@anthropic-agent-skills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1959" y="1803350"/>
            <a:ext cx="7960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公式プラグイン（anthropics/claude-plugins-official）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71959" y="2057400"/>
            <a:ext cx="7804398" cy="3048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1959" y="2057400"/>
            <a:ext cx="7960486" cy="269677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code-review@claude-plugins-official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1959" y="2412950"/>
            <a:ext cx="7960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デフォルトで登録済み。marketplace add は不要。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1959" y="2717750"/>
            <a:ext cx="7960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金融特化（anthropics/financial-services-plugins）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1959" y="2971800"/>
            <a:ext cx="7804398" cy="4572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2971800"/>
            <a:ext cx="7960486" cy="412552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marketplace add anthropics/financial-services-plugins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financial-analysis@financial-services-plugins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1959" y="3581400"/>
            <a:ext cx="79604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ナレッジワーク（anthropics/knowledge-work-plugins）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1959" y="3835301"/>
            <a:ext cx="7804398" cy="457200"/>
          </a:xfrm>
          <a:prstGeom prst="roundRect">
            <a:avLst>
              <a:gd name="adj" fmla="val 1111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959" y="3835301"/>
            <a:ext cx="7960486" cy="412552"/>
          </a:xfrm>
          <a:prstGeom prst="rect">
            <a:avLst/>
          </a:prstGeom>
          <a:noFill/>
          <a:ln/>
        </p:spPr>
        <p:txBody>
          <a:bodyPr wrap="square" lIns="127000" tIns="63500" rIns="1270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marketplace add anthropics/knowledge-work-plugins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plugin install productivity@knowledge-work-plugins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1959" y="4419600"/>
            <a:ext cx="7960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3, 4 は初回のみ marketplace add が必要。以降は install のみでOK。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1618357"/>
            <a:ext cx="79604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71959" y="2427684"/>
            <a:ext cx="1076623" cy="27384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959" y="2564755"/>
            <a:ext cx="796048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私のおすすめスキル/プラグイン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doc-coauthoring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ドキュメントを対話しながら共同執筆するワークフロー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422350"/>
            <a:ext cx="2412950" cy="1269950"/>
          </a:xfrm>
          <a:prstGeom prst="roundRect">
            <a:avLst>
              <a:gd name="adj" fmla="val 6480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959" y="1422350"/>
            <a:ext cx="2461209" cy="447675"/>
          </a:xfrm>
          <a:prstGeom prst="rect">
            <a:avLst/>
          </a:prstGeom>
          <a:noFill/>
          <a:ln/>
        </p:spPr>
        <p:txBody>
          <a:bodyPr wrap="square" lIns="177800" tIns="152400" rIns="17780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1959" y="1870025"/>
            <a:ext cx="2461209" cy="250775"/>
          </a:xfrm>
          <a:prstGeom prst="rect">
            <a:avLst/>
          </a:prstGeom>
          <a:noFill/>
          <a:ln/>
        </p:spPr>
        <p:txBody>
          <a:bodyPr wrap="square" lIns="177800" tIns="5080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Context Gathering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1959" y="2120801"/>
            <a:ext cx="2461209" cy="476250"/>
          </a:xfrm>
          <a:prstGeom prst="rect">
            <a:avLst/>
          </a:prstGeom>
          <a:noFill/>
          <a:ln/>
        </p:spPr>
        <p:txBody>
          <a:bodyPr wrap="square" lIns="177800" tIns="76200" rIns="177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5C1E9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頭の中の情報を引き出す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5C1E9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背景・制約・読者を整理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47215" y="1930301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3550" y="1422350"/>
            <a:ext cx="2412950" cy="1269950"/>
          </a:xfrm>
          <a:prstGeom prst="roundRect">
            <a:avLst>
              <a:gd name="adj" fmla="val 6480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3550" y="1422350"/>
            <a:ext cx="2461209" cy="447675"/>
          </a:xfrm>
          <a:prstGeom prst="rect">
            <a:avLst/>
          </a:prstGeom>
          <a:noFill/>
          <a:ln/>
        </p:spPr>
        <p:txBody>
          <a:bodyPr wrap="square" lIns="177800" tIns="152400" rIns="17780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03550" y="1870025"/>
            <a:ext cx="2461209" cy="250775"/>
          </a:xfrm>
          <a:prstGeom prst="rect">
            <a:avLst/>
          </a:prstGeom>
          <a:noFill/>
          <a:ln/>
        </p:spPr>
        <p:txBody>
          <a:bodyPr wrap="square" lIns="177800" tIns="5080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Refinement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3550" y="2120801"/>
            <a:ext cx="2461209" cy="476250"/>
          </a:xfrm>
          <a:prstGeom prst="rect">
            <a:avLst/>
          </a:prstGeom>
          <a:noFill/>
          <a:ln/>
        </p:spPr>
        <p:txBody>
          <a:bodyPr wrap="square" lIns="177800" tIns="76200" rIns="177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5C1E9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セクションごとに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5C1E9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ブレスト→執筆→推敲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0415" y="1930301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46750" y="1422350"/>
            <a:ext cx="2329607" cy="1269950"/>
          </a:xfrm>
          <a:prstGeom prst="roundRect">
            <a:avLst>
              <a:gd name="adj" fmla="val 648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146750" y="1422350"/>
            <a:ext cx="2376199" cy="447675"/>
          </a:xfrm>
          <a:prstGeom prst="rect">
            <a:avLst/>
          </a:prstGeom>
          <a:noFill/>
          <a:ln/>
        </p:spPr>
        <p:txBody>
          <a:bodyPr wrap="square" lIns="177800" tIns="152400" rIns="17780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46750" y="1870025"/>
            <a:ext cx="2376199" cy="250775"/>
          </a:xfrm>
          <a:prstGeom prst="rect">
            <a:avLst/>
          </a:prstGeom>
          <a:noFill/>
          <a:ln/>
        </p:spPr>
        <p:txBody>
          <a:bodyPr wrap="square" lIns="177800" tIns="50800" rIns="17780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EF5E7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Reader Testing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46750" y="2120801"/>
            <a:ext cx="2376199" cy="476250"/>
          </a:xfrm>
          <a:prstGeom prst="rect">
            <a:avLst/>
          </a:prstGeom>
          <a:noFill/>
          <a:ln/>
        </p:spPr>
        <p:txBody>
          <a:bodyPr wrap="square" lIns="177800" tIns="76200" rIns="17780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DEB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別のClaudeで読者テスト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DEB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盲点を検出・修正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1959" y="2895600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/docx スキルとの違い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1959" y="3225701"/>
            <a:ext cx="1650950" cy="3048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23058" y="3225701"/>
            <a:ext cx="3048000" cy="3048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23058" y="3225701"/>
            <a:ext cx="3108960" cy="2696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doc-coauthoring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71058" y="3225701"/>
            <a:ext cx="3105299" cy="30480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71058" y="3225701"/>
            <a:ext cx="3167405" cy="26967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1959" y="3530501"/>
            <a:ext cx="1650950" cy="33962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71959" y="3865364"/>
            <a:ext cx="165095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71959" y="3530501"/>
            <a:ext cx="1683969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役割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23058" y="3865364"/>
            <a:ext cx="3048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323058" y="3530501"/>
            <a:ext cx="3108960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中身を一緒に考える（プロセス重視）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71058" y="3865364"/>
            <a:ext cx="3105299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371058" y="3530501"/>
            <a:ext cx="3167405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ファイルを操作する（フォーマット重視）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1959" y="3860750"/>
            <a:ext cx="1650950" cy="33010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1959" y="3860750"/>
            <a:ext cx="1683969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出力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23058" y="3860750"/>
            <a:ext cx="3108960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Markdown + 読者テスト済み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1058" y="3860750"/>
            <a:ext cx="3167405" cy="326827"/>
          </a:xfrm>
          <a:prstGeom prst="rect">
            <a:avLst/>
          </a:prstGeom>
          <a:noFill/>
          <a:ln/>
        </p:spPr>
        <p:txBody>
          <a:bodyPr wrap="square" lIns="101600" tIns="63500" rIns="1016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.docx ファイル（書式・変更履歴付き）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anthropics/skills &gt; example-skills &gt; doc-coauthoring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frontend-design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本格的なフロントエンドUIをコードで一発生成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できること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LP、ダッシュボード、Webアプリ画面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React + Tailwind CSS で実コード出力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アニメーション・マイクロインタラクション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レスポンシブ対応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「AIっぽさ」を排除したデザイン重視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通常プロンプトとの違い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デザイン原則が組み込み済み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タイポグラフィ・配色・余白の判断を自動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汎用的な「それっぽいUI」にならない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プロダクション品質のコードを出力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毎回一貫したクオリティ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/frontend-design</a:t>
            </a:r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SaaS管理画面のダッシュボードを作って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anthropics/skills &gt; example-skills &gt; frontend-design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frontend-design — 設計思考と禁止事項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コーディング前に必ず4つのデザイン思考を実行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Design Thinking（4ステップ）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Purpose — このUIは何を解決するか？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Tone — ブルータル？レトロ？ラグジュアリー？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Constraints — 技術要件・アクセシビリティ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Differentiation — 「忘れられない」ポイント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→ 明確な方向性を決めてから実装開始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NEVER（AI slop 排除リスト）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Inter, Roboto, Arial 等のありきたりフォント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紫グラデーション × 白背景のクリシェ配色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予測可能なレイアウト・コンポーネント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毎回同じフォントに収束（Space Grotesk等）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→ 代わりにノイズテクスチャ・メッシュグラデ等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Typography / Motion / Spatial の3軸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個性的フォント対 + スタガードアニメ + 非対称レイアウト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anthropics/skills &gt; example-skills &gt; frontend-design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internal-comms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社内コミュニケーション文書を一発で生成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対応する文書タイプ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社内ニュースレター</a:t>
            </a:r>
            <a:pPr algn="l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全社向け週次/月次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3Pレポート</a:t>
            </a:r>
            <a:pPr algn="l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Progress / Plans / Problems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FAQドキュメント</a:t>
            </a:r>
            <a:pPr algn="l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よくある質問と回答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ステータスレポート</a:t>
            </a:r>
            <a:pPr algn="l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プロジェクト進捗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インシデントレポート</a:t>
            </a:r>
            <a:pPr algn="l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 — 障害報告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文書タイプごとのガイドラインを内蔵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 / メール配信に最適化した書式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自社のフォーマットにカスタマイズ可能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毎回フォーマットを指示する必要がない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セクション分け・優先順位付けが自動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出力イメージ（社内ニュースレター）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35301"/>
            <a:ext cx="7804398" cy="431750"/>
          </a:xfrm>
          <a:prstGeom prst="roundRect">
            <a:avLst>
              <a:gd name="adj" fmla="val 1176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35301"/>
            <a:ext cx="7960486" cy="269677"/>
          </a:xfrm>
          <a:prstGeom prst="rect">
            <a:avLst/>
          </a:prstGeom>
          <a:noFill/>
          <a:ln/>
        </p:spPr>
        <p:txBody>
          <a:bodyPr wrap="square" lIns="152400" tIns="63500" rIns="152400" bIns="635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161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:megaphone: 全社アナウンス / :dart: プロダクト開発 / :chart: ビジネス / :busts: ピープル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1959" y="4104977"/>
            <a:ext cx="7960486" cy="171450"/>
          </a:xfrm>
          <a:prstGeom prst="rect">
            <a:avLst/>
          </a:prstGeom>
          <a:noFill/>
          <a:ln/>
        </p:spPr>
        <p:txBody>
          <a:bodyPr wrap="square" lIns="152400" tIns="0" rIns="1524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→ セクション別・箇条書き・短文で Slack/メール配信向けに自動整形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anthropics/skills &gt; example-skills &gt; internal-comms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skill-creator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スキルを作るためのスキル — 5段階ワークフロー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1460450" cy="888950"/>
          </a:xfrm>
          <a:prstGeom prst="roundRect">
            <a:avLst>
              <a:gd name="adj" fmla="val 9258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71959" y="1396901"/>
            <a:ext cx="1489659" cy="339626"/>
          </a:xfrm>
          <a:prstGeom prst="rect">
            <a:avLst/>
          </a:prstGeom>
          <a:noFill/>
          <a:ln/>
        </p:spPr>
        <p:txBody>
          <a:bodyPr wrap="square" lIns="127000" tIns="101600" rIns="12700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Decide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71959" y="1736527"/>
            <a:ext cx="1489659" cy="222200"/>
          </a:xfrm>
          <a:prstGeom prst="rect">
            <a:avLst/>
          </a:prstGeom>
          <a:noFill/>
          <a:ln/>
        </p:spPr>
        <p:txBody>
          <a:bodyPr wrap="square" lIns="127000" tIns="50800" rIns="1270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目的と範囲を決定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57631" y="1752600"/>
            <a:ext cx="1294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11301" y="1396901"/>
            <a:ext cx="1460450" cy="888950"/>
          </a:xfrm>
          <a:prstGeom prst="roundRect">
            <a:avLst>
              <a:gd name="adj" fmla="val 925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11301" y="1396901"/>
            <a:ext cx="1489659" cy="339626"/>
          </a:xfrm>
          <a:prstGeom prst="rect">
            <a:avLst/>
          </a:prstGeom>
          <a:noFill/>
          <a:ln/>
        </p:spPr>
        <p:txBody>
          <a:bodyPr wrap="square" lIns="127000" tIns="101600" rIns="12700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Write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11301" y="1736527"/>
            <a:ext cx="1489659" cy="222200"/>
          </a:xfrm>
          <a:prstGeom prst="rect">
            <a:avLst/>
          </a:prstGeom>
          <a:noFill/>
          <a:ln/>
        </p:spPr>
        <p:txBody>
          <a:bodyPr wrap="square" lIns="127000" tIns="50800" rIns="1270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SKILL.md を作成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5931" y="1752600"/>
            <a:ext cx="1294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49601" y="1396901"/>
            <a:ext cx="1460450" cy="888950"/>
          </a:xfrm>
          <a:prstGeom prst="roundRect">
            <a:avLst>
              <a:gd name="adj" fmla="val 9258"/>
            </a:avLst>
          </a:prstGeom>
          <a:solidFill>
            <a:srgbClr val="2E86C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49601" y="1396901"/>
            <a:ext cx="1489659" cy="339626"/>
          </a:xfrm>
          <a:prstGeom prst="rect">
            <a:avLst/>
          </a:prstGeom>
          <a:noFill/>
          <a:ln/>
        </p:spPr>
        <p:txBody>
          <a:bodyPr wrap="square" lIns="127000" tIns="101600" rIns="12700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Test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49601" y="1736527"/>
            <a:ext cx="1489659" cy="222200"/>
          </a:xfrm>
          <a:prstGeom prst="rect">
            <a:avLst/>
          </a:prstGeom>
          <a:noFill/>
          <a:ln/>
        </p:spPr>
        <p:txBody>
          <a:bodyPr wrap="square" lIns="127000" tIns="50800" rIns="1270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evals.json で評価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34231" y="1752600"/>
            <a:ext cx="1294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87901" y="1396901"/>
            <a:ext cx="1460450" cy="888950"/>
          </a:xfrm>
          <a:prstGeom prst="roundRect">
            <a:avLst>
              <a:gd name="adj" fmla="val 925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87901" y="1396901"/>
            <a:ext cx="1489659" cy="339626"/>
          </a:xfrm>
          <a:prstGeom prst="rect">
            <a:avLst/>
          </a:prstGeom>
          <a:noFill/>
          <a:ln/>
        </p:spPr>
        <p:txBody>
          <a:bodyPr wrap="square" lIns="127000" tIns="101600" rIns="12700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Evaluate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87901" y="1736527"/>
            <a:ext cx="1489659" cy="222200"/>
          </a:xfrm>
          <a:prstGeom prst="rect">
            <a:avLst/>
          </a:prstGeom>
          <a:noFill/>
          <a:ln/>
        </p:spPr>
        <p:txBody>
          <a:bodyPr wrap="square" lIns="127000" tIns="50800" rIns="1270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EF5E7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ベンチマーク実行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72531" y="1752600"/>
            <a:ext cx="1294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26201" y="1396901"/>
            <a:ext cx="1250156" cy="888950"/>
          </a:xfrm>
          <a:prstGeom prst="roundRect">
            <a:avLst>
              <a:gd name="adj" fmla="val 9258"/>
            </a:avLst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226201" y="1396901"/>
            <a:ext cx="1275159" cy="339626"/>
          </a:xfrm>
          <a:prstGeom prst="rect">
            <a:avLst/>
          </a:prstGeom>
          <a:noFill/>
          <a:ln/>
        </p:spPr>
        <p:txBody>
          <a:bodyPr wrap="square" lIns="127000" tIns="101600" rIns="12700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5. Iterate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6201" y="1736527"/>
            <a:ext cx="1275159" cy="222200"/>
          </a:xfrm>
          <a:prstGeom prst="rect">
            <a:avLst/>
          </a:prstGeom>
          <a:noFill/>
          <a:ln/>
        </p:spPr>
        <p:txBody>
          <a:bodyPr wrap="square" lIns="127000" tIns="50800" rIns="12700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6EAF8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改善を繰り返す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1959" y="2489150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自動でやってくれること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1959" y="2793950"/>
            <a:ext cx="3810000" cy="1371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71959" y="2793950"/>
            <a:ext cx="3810000" cy="1244947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SKILL.md のひな形を対話で生成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テスト用 evals.json を自動作成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ベンチマーク実行で品質を数値化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description の最適化（250文字以内）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0850" y="2489150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おすすめの理由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0850" y="2793950"/>
            <a:ext cx="3815507" cy="1371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60850" y="2793950"/>
            <a:ext cx="3815507" cy="1244947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自作スキルの第一歩に最適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「スキルの作り方」自体がスキル化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品質評価の仕組みが最初から付く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公式が推奨するベストプラクティス準拠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anthropics/skills &gt; example-skills &gt; skill-creator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PRを多段サブエージェントで自動レビュー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レビューの流れ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Haiku がPR状態チェック＆CLAUDE.md探索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Sonnet が変更サマリーを生成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4エージェント並列でレビュー実行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検証エージェントで偽陽性を排除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GitHub PRにインラインコメント投稿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モデル使い分け: Haiku→Sonnet→Opus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CLAUDE.md 準拠チェック × 2並列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バグ検出 × 2並列（セキュリティ・ロジック）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信頼度80点以上のみ報告（高シグナル）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コードスタイルやnitpickは自動除外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/code-review 123 --comment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claude-code-plugins &gt; code-review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commit-commands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Git ワークフローを3コマンドで自動化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3つのコマンド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/commit — 変更を分析しコミットメッセージ自動生成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/commit-push-pr — ブランチ→コミット→Push→PR一括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/clean_gone — マージ済みブランチを一掃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リポジトリのコミットスタイルに自動追従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worktree のクリーンアップにも対応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 との組み合わせ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commit-commands でPRを作成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 でそのPRをレビュー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「書く側」と「読む側」の両輪を自動化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gh CLI ベースで GitHub と直接連携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 公式プラグイン（v1.0.0）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/commit-push-pr 新しいログイン画面のPRを作成して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commit-commands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feature-dev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7フェーズで機能開発を一気通貫で自動化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7つのフェーズ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Discovery — 要件理解と明確化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Exploration — code-explorer ×2-3 並列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Questions — 曖昧な点をユーザーに確認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Architecture — code-architect ×2-3 並列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5-7. 実装→品質レビュー→サマリー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3種類の専用エージェントを内蔵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設計は「確信を持った1案」を提示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実装前に必ずユーザー承認を取得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code-reviewer で信頼度80点以上のみ報告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commit-commands / code-review と補完関係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/feature-dev ログイン画面にOAuth認証を追加して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feature-dev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91440"/>
            <a:ext cx="79644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B4F72"/>
                </a:solidFill>
                <a:latin typeface="Noto Sans JP"/>
              </a:rPr>
              <a:t>スキルで実現する開発ライフサイクル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320040"/>
            <a:ext cx="79644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Noto Sans JP"/>
              </a:rPr>
              <a:t>要件定義からリリースまで — 全工程にスキル/プラグインを適用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640080"/>
            <a:ext cx="1051560" cy="256032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要件定義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23544"/>
            <a:ext cx="1051560" cy="2560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1B4F72"/>
                </a:solidFill>
                <a:latin typeface="Noto Sans JP"/>
              </a:rPr>
              <a:t>doc-
coauthoring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7" y="640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BBBBB"/>
                </a:solidFill>
                <a:latin typeface="Noto Sans JP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2767" y="640080"/>
            <a:ext cx="1051560" cy="256032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設計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2767" y="923544"/>
            <a:ext cx="1051560" cy="2560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1B4F72"/>
                </a:solidFill>
                <a:latin typeface="Noto Sans JP"/>
              </a:rPr>
              <a:t>feature-dev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640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BBBBB"/>
                </a:solidFill>
                <a:latin typeface="Noto Sans JP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9775" y="640080"/>
            <a:ext cx="1051560" cy="25603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デザイン思考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9775" y="923544"/>
            <a:ext cx="1051560" cy="2560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1B4F72"/>
                </a:solidFill>
                <a:latin typeface="Noto Sans JP"/>
              </a:rPr>
              <a:t>frontend-
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3" y="640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BBBBB"/>
                </a:solidFill>
                <a:latin typeface="Noto Sans JP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6783" y="640080"/>
            <a:ext cx="1051560" cy="256032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UI/機能実装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86783" y="923544"/>
            <a:ext cx="1051560" cy="2560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1B4F72"/>
                </a:solidFill>
                <a:latin typeface="Noto Sans JP"/>
              </a:rPr>
              <a:t>feature-dev
frontend-design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640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BBBBB"/>
                </a:solidFill>
                <a:latin typeface="Noto Sans JP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640080"/>
            <a:ext cx="1051560" cy="25603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コミット/PR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923544"/>
            <a:ext cx="1051560" cy="2560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1B4F72"/>
                </a:solidFill>
                <a:latin typeface="Noto Sans JP"/>
              </a:rPr>
              <a:t>commit-
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640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BBBBB"/>
                </a:solidFill>
                <a:latin typeface="Noto Sans JP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640080"/>
            <a:ext cx="1051560" cy="25603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レビュー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923544"/>
            <a:ext cx="1051560" cy="2560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1B4F72"/>
                </a:solidFill>
                <a:latin typeface="Noto Sans JP"/>
              </a:rPr>
              <a:t>code-review
pr-review-toolkit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8" y="640080"/>
            <a:ext cx="228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BBBBB"/>
                </a:solidFill>
                <a:latin typeface="Noto Sans JP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07807" y="640080"/>
            <a:ext cx="1051560" cy="25603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</a:rPr>
              <a:t>社内周知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07807" y="923544"/>
            <a:ext cx="1051560" cy="256032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1B4F72"/>
                </a:solidFill>
                <a:latin typeface="Noto Sans JP"/>
              </a:rPr>
              <a:t>internal-
comms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61487" y="502919"/>
            <a:ext cx="2295144" cy="118872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1">
                <a:solidFill>
                  <a:srgbClr val="FFFFFF"/>
                </a:solidFill>
                <a:latin typeface="Noto Sans JP"/>
              </a:rPr>
              <a:t>frontend-design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216152"/>
            <a:ext cx="10515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E74C3C"/>
                </a:solidFill>
                <a:latin typeface="Noto Sans JP"/>
              </a:rPr>
              <a:t>汎用 + 精密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" y="1554480"/>
            <a:ext cx="7964424" cy="9144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162763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Noto Sans JP"/>
              </a:rPr>
              <a:t>ガードレール（全工程横断）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" y="1810512"/>
            <a:ext cx="1920240" cy="20116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JP"/>
              </a:rPr>
              <a:t>hookify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2039112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  <a:latin typeface="Noto Sans JP"/>
              </a:rPr>
              <a:t>カスタムルールで行動制御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79192" y="1810512"/>
            <a:ext cx="1920240" cy="201168"/>
          </a:xfrm>
          <a:prstGeom prst="roundRect">
            <a:avLst/>
          </a:prstGeom>
          <a:solidFill>
            <a:srgbClr val="92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JP"/>
              </a:rPr>
              <a:t>security-guidance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9192" y="2039112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  <a:latin typeface="Noto Sans JP"/>
              </a:rPr>
              <a:t>OWASP脆弱性9パターン自動検出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90872" y="1810512"/>
            <a:ext cx="1920240" cy="20116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JP"/>
              </a:rPr>
              <a:t>/simplify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0872" y="2039112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  <a:latin typeface="Noto Sans JP"/>
              </a:rPr>
              <a:t>3エージェント並列品質改善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2552" y="1810512"/>
            <a:ext cx="1920240" cy="20116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JP"/>
              </a:rPr>
              <a:t>/debug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2552" y="2039112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  <a:latin typeface="Noto Sans JP"/>
              </a:rPr>
              <a:t>エラー診断・デバッグ自動化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" y="2240280"/>
            <a:ext cx="7964424" cy="9144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231343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80B9"/>
                </a:solidFill>
                <a:latin typeface="Noto Sans JP"/>
              </a:rPr>
              <a:t>自動化・反復実行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" y="2496312"/>
            <a:ext cx="3931920" cy="20116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ralph-wiggum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2724912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  <a:latin typeface="Noto Sans JP"/>
              </a:rPr>
              <a:t>同じプロンプトを無限ループで反復改善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09160" y="2496312"/>
            <a:ext cx="3931920" cy="201168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/loop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2724912"/>
            <a:ext cx="3931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  <a:latin typeface="Noto Sans JP"/>
              </a:rPr>
              <a:t>定期実行（ポーリング・監視）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" y="2926080"/>
            <a:ext cx="7964424" cy="9144"/>
          </a:xfrm>
          <a:prstGeom prst="rect">
            <a:avLst/>
          </a:prstGeom>
          <a:solidFill>
            <a:srgbClr val="D5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299923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E44AD"/>
                </a:solidFill>
                <a:latin typeface="Noto Sans JP"/>
              </a:rPr>
              <a:t>スキル/プラグイン作成・ドキュメント生成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7512" y="3182112"/>
            <a:ext cx="2606040" cy="201168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skill-creator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" y="3410712"/>
            <a:ext cx="2606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  <a:latin typeface="Noto Sans JP"/>
              </a:rPr>
              <a:t>スキル作成・テスト・評価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3182112"/>
            <a:ext cx="2606040" cy="201168"/>
          </a:xfrm>
          <a:prstGeom prst="round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plugin-dev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83280" y="3410712"/>
            <a:ext cx="2606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  <a:latin typeface="Noto Sans JP"/>
              </a:rPr>
              <a:t>プラグイン開発ツールキット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9048" y="3182112"/>
            <a:ext cx="2606040" cy="20116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Noto Sans JP"/>
              </a:rPr>
              <a:t>pptx / xlsx / docx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9048" y="3410712"/>
            <a:ext cx="2606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  <a:latin typeface="Noto Sans JP"/>
              </a:rPr>
              <a:t>ドキュメント自動生成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" y="4370832"/>
            <a:ext cx="79644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Noto Sans JP"/>
              </a:rPr>
              <a:t>ライフサイクル + ガードレール + 自動化 + 作成ツール = スキルで全方位カバー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4727448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Noto Sans JP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hookify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会話分析で「やってほしくない行動」を自動ルール化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4つのフックイベント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bash — Bashコマンド実行前にチェック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file — ファイル編集/作成時にチェック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stop — エージェント終了時にチェック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prompt — ユーザー入力時にチェック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warn（警告のみ）or block（阻止）を選択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ユニークな特徴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引数なし実行で会話を自動分析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「Don't」「Stop doing」等の修正指示を検出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.claude/hookify.*.local.md にルール保存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正規表現パターンで柔軟にマッチ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再起動不要 — ルール即時反映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/hookify rm -rf を使わないようにして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hookify (by Daisy Hollman)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plugin-dev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プラグインを作るための総合ツールキット（7スキル+3エージェント）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8フェーズ・ワークフロー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1-2. Discovery → Component Planning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3-4. Detailed Design → Structure Creation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5. Implementation（エージェントで自動実装）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6-7. Validation → Testing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8. Documentation（README整備）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7つの専門スキル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plugin-structure — ディレクトリ構成・manifest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command / agent / skill-development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hook-development — フック実装ガイド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mcp-integration — MCPサーバー連携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plugin-settings — .local.md 設定管理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/plugin-dev:create-plugin Slack通知プラグインを作りたい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plugin-dev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pr-review-toolkit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6つの専門エージェントによる精密PRレビュー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6つの専門エージェント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code-reviewer (Opus) — 品質・バグ検出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silent-failure-hunter — サイレント失敗を狩る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code-simplifier (Opus) — 機能維持で簡素化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comment-analyzer — コメント正確性チェック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pr-test-analyzer / type-design-analyzer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 との違い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code-review: 汎用4エージェント（全体チェック）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pr-review-toolkit: 専門6エージェント（精密検査）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type-design-analyzer で型設計も評価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観点を選んで部分レビューが可能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両方使うと多角的なレビューに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/review-pr all  または  /review-pr tests errors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pr-review-toolkit (by Daisy)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ralph-wiggum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同じプロンプトを無限ループ — 自己参照的に反復改善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仕組み（Stopフック活用）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Claude が同じプロンプトを受け取る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ファイルを修正して作業する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終了しようとする → Stopフックが阻止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同じプロンプトを再フィード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5. 前回の作業結果を見て改善→3に戻る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使い分け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要件確定済み×反復改善 → ralph-wiggum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探索×判断が必要 → 通常の対話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&lt;promise&gt;タグで完了を宣言（嘘は厳禁）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--max-iterations で安全弁を設定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Geoffrey Huntley 提唱の開発手法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/ralph-loop "テスト追加" --completion-promise "DONE" --max-iterations 20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ralph-wiggum (by Daisy Hollman)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security-guidance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ファイル編集時に9つのセキュリティ脆弱性を自動検出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検出する9パターン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コマンドインジェクション（exec, os.system）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XSS（innerHTML, dangerouslySetInnerHTML）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eval / new Function（任意コード実行）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pickle デシリアライゼーション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GitHub Actions ワークフローの脆弱性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hookify との違い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Pythonスクリプトにルールがハードコード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OWASP Top 10 の一部を自動カバー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セッション内で同じ警告は1回だけ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hookify はユーザー定義のカスタムルール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→ 併用で多層防御が実現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仕組み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 フックで Edit/Write/MultiEdit を傍受→パターンマッチ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anthropics/claude-code &gt; security-guidance (by David Dworken)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claude-md-management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CLAUDE.md の品質監査とセッション学習の自動反映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2つのツール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claude-md-improver — 6項目で品質スコアリング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/revise-claude-md — セッションの学びを反映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コマンド/アーキテクチャ/簡潔さ等を評価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A〜Fのグレードで品質を可視化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diff形式で改善案を提示→承認後に適用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品質スコアの6項目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コマンド/ワークフロー（20点）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アーキテクチャ明確性（20点）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非自明なパターン（15点）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簡潔さ（15点）/ 最新性（15点）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実行可能性（15点）= 合計100点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/revise-claude-md  または  "CLAUDE.mdを監査して"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claude-plugins-official &gt; claude-md-management (by Isabella He)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mcp-server-dev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MCPサーバーの設計→構築を3スキルでガイド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5フェーズの設計プロセス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1. 何に接続？誰が使う？アクション数は？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2. デプロイモデル選定（HTTP/App/MCPB/stdio）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3. ツール設計パターン（1対1 or 検索+実行）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4. フレームワーク（TS SDK or FastMCP）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5. スキャフォールド→下流スキルにハンドオフ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mcp-builder との違い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mcp-builder: 汎用MCPサーバー構築ガイド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mcp-server-dev: + MCP App（UIウィジェット）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+ MCPB（バンドル配布）もカバーする上位互換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Cloudflare Workers デプロイガイド内蔵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18個のリファレンスドキュメント付き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"help me build an MCP server" or /mcp-server-dev:build-mcp-server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claude-plugins-official &gt; mcp-server-dev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182880"/>
            <a:ext cx="7964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B4F72"/>
                </a:solidFill>
                <a:latin typeface="Noto Sans JP"/>
              </a:rPr>
              <a:t>knowledge-work-plugins — 職種別プラグイン一覧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502920"/>
            <a:ext cx="7964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33333"/>
                </a:solidFill>
                <a:latin typeface="Noto Sans JP"/>
              </a:rPr>
              <a:t>Claude Cowork / Claude Code 両対応 — 各職種の業務をスキル+MCPで自動化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822960"/>
            <a:ext cx="182880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87752" y="822960"/>
            <a:ext cx="256032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39512" y="822960"/>
            <a:ext cx="192024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51192" y="822960"/>
            <a:ext cx="1371600" cy="2926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86868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 JP"/>
              </a:rPr>
              <a:t>プラグイン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0904" y="8686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 JP"/>
              </a:rPr>
              <a:t>主な機能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2664" y="8686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 JP"/>
              </a:rPr>
              <a:t>スキル数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24344" y="8686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Noto Sans JP"/>
              </a:rPr>
              <a:t>MCP連携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1133856"/>
            <a:ext cx="18288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87752" y="1133856"/>
            <a:ext cx="256032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9512" y="1133856"/>
            <a:ext cx="192024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51192" y="1133856"/>
            <a:ext cx="1371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117957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4" y="117957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タスク管理・メモリ・ダッシュボード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117957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4スキル+3コマンド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24344" y="11795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" y="1444752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87752" y="1444752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39512" y="1444752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51192" y="1444752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14904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60904" y="1490472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見込み客リサーチ・コールプレップ・予測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14904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6スキル+3コマンド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4344" y="14904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1755648"/>
            <a:ext cx="18288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87752" y="1755648"/>
            <a:ext cx="256032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39512" y="1755648"/>
            <a:ext cx="192024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51192" y="1755648"/>
            <a:ext cx="1371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180136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customer-support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0904" y="180136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チケットトリアージ・エスカレーション・KB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2664" y="180136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5スキル+5コマンド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180136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" y="2066544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87752" y="2066544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39512" y="2066544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51192" y="2066544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" y="211226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product-management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60904" y="2112264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スペック作成・ロードマップ・スプリント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12664" y="211226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8スキル+1コマンド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24344" y="211226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" y="2377440"/>
            <a:ext cx="18288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587752" y="2377440"/>
            <a:ext cx="256032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39512" y="2377440"/>
            <a:ext cx="192024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51192" y="2377440"/>
            <a:ext cx="1371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" y="2423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marketing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60904" y="2423160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コンテンツ作成・キャンペーン・SEO監査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12664" y="24231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8スキル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24344" y="24231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" y="2688336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87752" y="2688336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39512" y="2688336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51192" y="2688336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" y="273405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legal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60904" y="2734056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契約レビュー・NDA・コンプライアンス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12664" y="273405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9スキル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24344" y="273405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" y="2999232"/>
            <a:ext cx="18288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87752" y="2999232"/>
            <a:ext cx="256032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39512" y="2999232"/>
            <a:ext cx="192024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51192" y="2999232"/>
            <a:ext cx="1371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0664" y="30449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finance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60904" y="3044952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仕訳・照合・財務諸表・差異分析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12664" y="30449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6スキル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24344" y="30449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" y="331012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87752" y="3310128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239512" y="3310128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251192" y="3310128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0664" y="33558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data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60904" y="335584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SQL作成・統計分析・ダッシュボード構築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12664" y="335584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5スキル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24344" y="33558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7512" y="3621024"/>
            <a:ext cx="18288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587752" y="3621024"/>
            <a:ext cx="256032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239512" y="3621024"/>
            <a:ext cx="192024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51192" y="3621024"/>
            <a:ext cx="1371600" cy="292608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0664" y="36667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enterprise-search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60904" y="3666744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メール・チャット・ドキュメント横断検索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12664" y="3666744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1スキル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24344" y="366674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39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67512" y="3931920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87752" y="3931920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239512" y="3931920"/>
            <a:ext cx="1920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251192" y="3931920"/>
            <a:ext cx="1371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0664" y="397764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B4F72"/>
                </a:solidFill>
                <a:latin typeface="Noto Sans JP"/>
              </a:rPr>
              <a:t>bio-research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60904" y="3977640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文献検索・ゲノム解析・ターゲット優先順位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12664" y="397764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  <a:latin typeface="Noto Sans JP"/>
              </a:rPr>
              <a:t>複数スキル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24344" y="39776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Noto Sans JP"/>
              </a:rPr>
              <a:t>10+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7512" y="4370832"/>
            <a:ext cx="79644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E9E9E"/>
                </a:solidFill>
                <a:latin typeface="Noto Sans JP"/>
              </a:rPr>
              <a:t>github.com/anthropics/knowledge-work-plugins — 全プラグイン Markdown+JSON、コードなし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92440" y="4727448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Noto Sans JP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82496" y="1755648"/>
            <a:ext cx="661111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Noto Sans JP"/>
              </a:rPr>
              <a:t>ご視聴ありがとうございました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82496" y="2834640"/>
            <a:ext cx="6611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D6EAF8"/>
                </a:solidFill>
                <a:latin typeface="Noto Sans JP"/>
              </a:rPr>
              <a:t>@masayan_tech_ai_mcp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2440" y="4727448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9E9E"/>
                </a:solidFill>
                <a:latin typeface="Noto Sans JP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marketing（knowledge-work-plugins）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コンテンツ作成からSEO監査まで8スキルでカバー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8つのスキル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content-creation / draft-content — コンテンツ作成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campaign-plan — キャンペーン企画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email-sequence — メールシーケンス設計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brand-review — ブランドボイスチェック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seo-audit / performance-report — SEO・分析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MCP連携（9サービス）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 / Notion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Canva / Figma（デザイン）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HubSpot / Klaviyo（MA）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Amplitude（プロダクト分析）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Ahrefs / SimilarWeb（SEO・競合）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新機能のローンチキャンペーンを企画して → campaign-plan 発動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knowledge-work-plugins &gt; marketing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legal（knowledge-work-plugins）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契約レビューからコンプライアンスまで9スキルでカバー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9つのスキル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review-contract — 契約書レビュー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triage-nda — NDAトリアージ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compliance-check — コンプライアンスチェック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legal-risk-assessment — リスク評価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vendor-check / signature-request / brief 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MCP連携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Slack（社内コミュニケーション）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Box / Egnyte（文書管理）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Jira / Atlassian（案件管理）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Microsoft 365（メール・文書）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Cowork + Claude Code 両対応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このNDAをレビューして → triage-nda が自動発動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knowledge-work-plugins &gt; legal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finance（knowledge-work-plugins）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仕訳・照合・財務諸表・差異分析・決算支援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スキル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journal-entry — 仕訳準備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reconciliation — 勘定照合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financial-statements — 財務諸表生成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variance-analysis — 差異分析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close-management / audit-support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MCP連携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Snowflake / Databricks / BigQuery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 / Microsoft 365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データウェアハウスと直接接続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決算プロセスの自動化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Cowork + Claude Code 両対応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"今月の売上差異を分析して" → variance-analysis 発動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knowledge-work-plugins &gt; finance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data（knowledge-work-plugins）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SQL作成・統計分析・ダッシュボード構築・データ検証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スキル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write-query — SQL作成・最適化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statistical-analysis — 統計分析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build-dashboard — ダッシュボード構築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data-validation — データ品質検証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visualization — データ可視化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MCP連携（7サービス）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Snowflake / Databricks / BigQuery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Definite / Hex（BIツール）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Amplitude（プロダクト分析）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Jira（チケット連携）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分析結果の共有前に自動検証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"月次KPIのダッシュボードを作って" → build-dashboard 発動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knowledge-work-plugins &gt;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71959" y="267444"/>
            <a:ext cx="796048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enterprise-search（knowledge-work-plugins）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71959" y="731639"/>
            <a:ext cx="7804398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71959" y="864096"/>
            <a:ext cx="796048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メール・チャット・ドキュメント・Wikiを横断検索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1959" y="1396901"/>
            <a:ext cx="3886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できること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71959" y="1701701"/>
            <a:ext cx="3810000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1959" y="1701701"/>
            <a:ext cx="3810000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1つのクエリで全ツールを横断検索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メール + Slack + Notion + Wiki を統合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検索結果の要約・統合レポート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プロジェクト横断の情報収集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「あの資料どこだっけ？」を解決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0850" y="1396901"/>
            <a:ext cx="3891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MCP連携（6サービス）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0850" y="1701701"/>
            <a:ext cx="3815507" cy="1650950"/>
          </a:xfrm>
          <a:prstGeom prst="roundRect">
            <a:avLst>
              <a:gd name="adj" fmla="val 49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0850" y="1701701"/>
            <a:ext cx="3815507" cy="152444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Slack（チャット）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Notion / Guru（ナレッジベース）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Jira / Asana（プロジェクト管理）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Microsoft 365（メール・ドキュメント）</a:t>
            </a:r>
            <a:endParaRPr lang="en-US" sz="1100" dirty="0"/>
          </a:p>
          <a:p>
            <a:pPr algn="l" marL="165100" indent="-165100">
              <a:lnSpc>
                <a:spcPts val="22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全ソースを横断した統合検索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1959" y="3530501"/>
            <a:ext cx="7960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使い方の例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1959" y="3860750"/>
            <a:ext cx="7804398" cy="381000"/>
          </a:xfrm>
          <a:prstGeom prst="roundRect">
            <a:avLst>
              <a:gd name="adj" fmla="val 13333"/>
            </a:avLst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1959" y="3860750"/>
            <a:ext cx="7960486" cy="339626"/>
          </a:xfrm>
          <a:prstGeom prst="rect">
            <a:avLst/>
          </a:prstGeom>
          <a:noFill/>
          <a:ln/>
        </p:spPr>
        <p:txBody>
          <a:bodyPr wrap="square" lIns="152400" tIns="88900" rIns="152400" bIns="889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"先月のセキュリティレビューの資料を探して"</a:t>
            </a:r>
            <a:pPr algn="l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1959" y="4368701"/>
            <a:ext cx="7960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knowledge-work-plugins &gt; enterprise-search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1136" y="4725144"/>
            <a:ext cx="4126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E9E9E"/>
                </a:solidFill>
                <a:latin typeface="Noto Sans JP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バンドルスキル 完全ガイド</dc:title>
  <dc:subject>PptxGenJS Presentation</dc:subject>
  <dc:creator>masayan</dc:creator>
  <cp:lastModifiedBy>masayan</cp:lastModifiedBy>
  <cp:revision>1</cp:revision>
  <dcterms:created xsi:type="dcterms:W3CDTF">2026-04-02T02:54:31Z</dcterms:created>
  <dcterms:modified xsi:type="dcterms:W3CDTF">2026-04-02T02:54:31Z</dcterms:modified>
</cp:coreProperties>
</file>